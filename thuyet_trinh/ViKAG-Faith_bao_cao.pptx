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92" y="1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7637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chào thầy cô. Em trình bày Project 4, tên ngắn là ViKAG-Faith. Đề tài đánh giá tính trung thực của câu trả lời trên quy chế đào tạo tiếng Việt. Điểm khác là em không chấm cả câu bằng một số. Em chấm từng mệnh đề: mệnh đề nào được khoản kéo theo, mệnh đề nào nói ngược khoản, và mệnh đề nào thêm thông tin không có trong nguồn. Phần sau em đi từ ví dụ, cách làm, rồi các số đã chạy trên máy CPU.</a:t>
            </a:r>
          </a:p>
          <a:p>
            <a:endParaRPr/>
          </a:p>
          <a:p>
            <a:r>
              <a:t>Chỉ vào: Câu trên tấm nền xanh: Không chấm cả câu. Chấm từng mệnh đề.</a:t>
            </a:r>
          </a:p>
          <a:p>
            <a:endParaRPr/>
          </a:p>
          <a:p>
            <a:r>
              <a:t>Chuyển: Em bắt đầu bằng một ví dụ sinh viên gặp thật.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chế là văn bản sinh viên dùng khi quyết định việc cụ thể, ví dụ nợ bao nhiêu tín chỉ thì bị cảnh báo. Một câu nghe xuôi vẫn sai theo ba kiểu. Một, đổi số: khoản nói vượt quá 24, câu nói 30. Hai, đổi hệ quả: số 24 vẫn đúng, nhưng cảnh báo học tập bị nói thành buộc thôi học. Lỗi này nguy hiểm hơn, vì người đọc tưởng mức xử lý nặng hơn quy chế. Ba, bịa thêm: khoản không nói tiền, câu thêm thưởng ba triệu mỗi học kỳ. Điểm F1 của cả câu không tách được ba kiểu này. Đề tài chấm từng mệnh đề để thấy khoản nào kéo theo, mệnh đề nào nói ngược, mệnh đề nào thêm ngoài nguồn.</a:t>
            </a:r>
          </a:p>
          <a:p>
            <a:endParaRPr/>
          </a:p>
          <a:p>
            <a:r>
              <a:t>Chỉ vào: Thẻ giữa, dòng buộc thôi học.</a:t>
            </a:r>
          </a:p>
          <a:p>
            <a:endParaRPr/>
          </a:p>
          <a:p>
            <a:r>
              <a:t>Chuyển: Từ ví dụ đó, em đặt ba câu hỏi, và nói hướng trả lời trước.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trả lời ba câu hỏi trong cấu hình không GPU, không Neo4j, và không gọi mô hình sinh câu. RQ1 hỏi thước tự động khớp người tới đâu. Hướng trả lời: thước có xét số bám người hơn thước đếm từ, nhưng tập người còn quá nhỏ. RQ2 hỏi đối chiếu từng khoản, kèm rule số, có đúng hơn gộp cả điều hay không. Trên 14 mệnh đề đã biết thì có. Trên toàn văn, lớp nói ngược chỉ đúng khoảng 0,15. RQ3 hỏi vòng sửa có giảm contradicted hay không. Có, khi thay lại đúng khoản. Vòng này chưa phải mô hình viết lại câu. Các slide sau là bằng chứng cho ba câu vừa rồi, không phải kết quả bất ngờ.</a:t>
            </a:r>
          </a:p>
          <a:p>
            <a:endParaRPr/>
          </a:p>
          <a:p>
            <a:r>
              <a:t>Chỉ vào: Dòng 0,15 ở RQ2.</a:t>
            </a:r>
          </a:p>
          <a:p>
            <a:endParaRPr/>
          </a:p>
          <a:p>
            <a:r>
              <a:t>Chuyển: Bốn sản phẩm trong mã tương ứng với ba câu hỏi này.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Bốn thứ này đã chạy trong mã. Một, đồ thị điều khoản cho ba thông tư, và bộ câu ViEduReg. Hai, thước GGF cùng ba nhãn và guideline. Ba, năm cổng truy hồi trên cùng một chỉ mục BM25. Bốn, và đây là đóng góp em muốn giữ: điểm gần tuyệt đối trên 14 mệnh đề người không giữ được khi mệnh đề được dựng từ toàn văn. Lớp nói ngược là lớp yếu.</a:t>
            </a:r>
          </a:p>
          <a:p>
            <a:endParaRPr/>
          </a:p>
          <a:p>
            <a:r>
              <a:t>Chỉ vào: Thẻ thứ tư.</a:t>
            </a:r>
          </a:p>
          <a:p>
            <a:endParaRPr/>
          </a:p>
          <a:p>
            <a:r>
              <a:t>Chuyển: Em đi một lượt qua luồng của một câu hỏi.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Một câu hỏi đi từ trái sang phải. Vào một trong năm cổng truy hồi. Câu trả lời trong bài là đoạn trích khoản, không phải câu mô hình viết. Em cố ý làm vậy để đo hai việc: có chọn đúng khoản không, và có bắt số bị đổi không. Đoạn trích được cắt thành mệnh đề, mỗi mệnh đề nhận một trong ba nhãn. GGF là tỉ lệ mệnh đề được nguồn kéo theo. Mệnh đề lệch được sửa tối đa hai vòng bằng cách thay lại đúng khoản. Nếu lệch số hoặc lệch hệ quả, bộ học được không được phủ quyết thành supported. Máy chạy Python trên CPU. File Cypher để nạp Neo4j đã có, buổi này không cần mở Neo4j.</a:t>
            </a:r>
          </a:p>
          <a:p>
            <a:endParaRPr/>
          </a:p>
          <a:p>
            <a:r>
              <a:t>Chỉ vào: Ba thẻ dưới: đoạn trích, rule không bị phủ quyết, sửa là thay khoản.</a:t>
            </a:r>
          </a:p>
          <a:p>
            <a:endParaRPr/>
          </a:p>
          <a:p>
            <a:r>
              <a:t>Chuyển: Đơn vị của đồ thị và nghĩa của ba nhãn nằm ở slide sau.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Đồ thị giữ đúng đơn vị của văn bản quy phạm: văn bản, điều, khoản, điểm. Hai cạnh rút bằng luật. REFERS_TO khi đoạn dẫn khoản khác. REPLACES khi một thông tư thay thông tư khác. Toàn văn có 545 khoản hoặc điểm, 125 cạnh dẫn chiếu, hai cạnh thay thế. Ba thông tư là 08/2021, 23/2021 và 56/2026. Thông tư 23 hết hiệu lực từ 30 tháng 6 năm 2026. Thông tư 56 có hiệu lực 7 tháng 7 năm 2026, cho khóa tuyển từ năm 2026. Khóa đã có thông báo tuyển sinh trước ngày đó vẫn theo quy chế cũ. Ba nhãn dùng chung cho người và cho rule. Supported là khoản kéo theo mệnh đề. Contradicted là nguồn nói ngược. Câu vượt quá 24 thì buộc thôi học vẫn là contradicted, dù số 24 đúng, vì khoản đang đối chiếu chỉ nói cảnh báo. Unsupported là thêm điều không có trong nguồn. GGF bằng số mệnh đề supported chia cho tổng số mệnh đề. Contradicted em báo cáo riêng.</a:t>
            </a:r>
          </a:p>
          <a:p>
            <a:endParaRPr/>
          </a:p>
          <a:p>
            <a:r>
              <a:t>Chỉ vào: Công thức ở dải xanh, rồi ví dụ 24 tín chỉ trên thẻ contradicted.</a:t>
            </a:r>
          </a:p>
          <a:p>
            <a:endParaRPr/>
          </a:p>
          <a:p>
            <a:r>
              <a:t>Chuyển: Năm cổng truy hồi cùng đọc đồ thị này, nhưng không phải mã gốc của các bài em dẫn.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Năm cổng đọc cùng chỉ mục BM25, đã chuẩn hóa dấu và viết thường. Lần này không dùng embedding dày, vì em muốn so cách đi trên đồ thị khi phần tìm từ giống nhau. Naive lấy đoạn đứng đầu. Graph đi thêm cạnh dẫn chiếu từ một hạt giống. LightRAG-style trộn nội dung với tiêu đề điều. HippoRAG-style lấy ba hạt giống rồi lan một lớp cạnh. Đây không phải OpenIE bằng mô hình lớn. KAG-style ưu tiên đoạn hiệu lực hoặc điều cấm khi câu hỏi hỏi những việc đó. Em không chạy Docker gốc của LightRAG, HippoRAG hay KAG. Tên trên slide là loại thuật toán đã cổng hóa.</a:t>
            </a:r>
          </a:p>
          <a:p>
            <a:endParaRPr/>
          </a:p>
          <a:p>
            <a:r>
              <a:t>Chỉ vào: Dòng HippoRAG-style, vì slide kết quả sẽ nhắc cổng này.</a:t>
            </a:r>
          </a:p>
          <a:p>
            <a:endParaRPr/>
          </a:p>
          <a:p>
            <a:r>
              <a:t>Chuyển: Trước khi đọc Recall, em tách ba tầng dữ liệu để các số không bị trộn.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tách ba tầng, và không trộn khi đọc số. Tầng rộng là 545 đơn vị trên ba thông tư, thu ngày 30 tháng 10. Thông tư 08 lấy từ PDF Công báo. Thông tư 56 là toàn văn công khai, không phải file Công báo gốc. Tầng câu hỏi là 150 câu ViEduReg đã đối chiếu nguồn. Từ đầu ra các hệ, em gom 127 mệnh đề không trùng. Một lượt đối chiếu cho 72 supported, 26 contradicted, 29 unsupported. Chưa có người thứ hai, nên chưa có kappa. Các số macro-F1 ở sau không tính trên 127 mệnh đề này. Tầng test người là 14 mệnh đề trên đồ thị trích của Thông tư 08. Tập này đủ để kiểm lỗi đã viết trong guideline, và quá nhỏ để ước lượng tương quan. Huấn luyện verifier chủ yếu là mệnh đề tổng hợp, 2.688 train và 298 dev. Tập người không trộn vào huấn luyện.</a:t>
            </a:r>
          </a:p>
          <a:p>
            <a:endParaRPr/>
          </a:p>
          <a:p>
            <a:r>
              <a:t>Chỉ vào: Ba số lớn 545, 150, 14, rồi dòng chưa có kappa.</a:t>
            </a:r>
          </a:p>
          <a:p>
            <a:endParaRPr/>
          </a:p>
          <a:p>
            <a:r>
              <a:t>Chuyển: Slide truy hồi dùng 150 câu. Slide verifier dùng 14 mệnh đề và mệnh đề dựng từ toàn văn.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tách hai việc hay bị gộp: khoản vàng có nằm trong pool hay không, và khoản vàng có được viết vào câu trả lời hay không. Thanh đậm là pool. Thanh nhạt là câu trả lời. HippoRAG-style đứng đầu pool, 0,633. Naive pool là 0,440. Khi chỉ tính khoản ghép vào câu, mọi hệ nằm khoảng 0,20 đến 0,27. Tìm được khoản chưa có nghĩa đã đưa khoản vào câu. Với câu hai bước, pool gần như đủ, từ 0,78 đến 0,98, nhưng câu trả lời chỉ phủ khoảng một nửa đến 0,60. Verifier vì thế phải nhìn pool. Trên đồ thị toàn văn 63 câu, Recall@5 của HippoRAG-style là 0,563, naive là 0,421. Lợi thế rõ ở câu viện dẫn: 0,625 so với 0,458. Graph đi từ một hạt giống chỉ đạt 0,333 chung, vì hạt giống sai thì cạnh đi ra cũng sai.</a:t>
            </a:r>
          </a:p>
          <a:p>
            <a:endParaRPr/>
          </a:p>
          <a:p>
            <a:r>
              <a:t>Chỉ vào: Hai thanh của dòng HippoRAG-style, rồi ba số nhỏ ở chân slide.</a:t>
            </a:r>
          </a:p>
          <a:p>
            <a:endParaRPr/>
          </a:p>
          <a:p>
            <a:r>
              <a:t>Chuyển: Truy hồi là chuyện chọn đoạn. Slide sau là chuyện nhận ra đoạn đó có kéo theo mệnh đề hay không.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em muốn thầy cô nhìn kỹ. Trên 14 mệnh đề người, rule từng khoản đạt macro-F1 bằng 1. Gộp cả điều còn 0,941. Bỏ rule số thì còn 0,436. Có một mệnh đề chỉ đúng khi nhìn từng khoản: nợ vượt quá 24 thì bị buộc thôi học. Số 24 nằm ở điểm cảnh báo. Chữ buộc thôi học nằm ở khoản khác cùng điều. Gộp cả điều thì cả số lẫn hệ quả đều có trong túi từ, nên bị gán supported. Điểm 1,000 là cận trên trên các lỗi đã viết trong guideline. Khi dựng mệnh đề từ khoảng 80 khoản của toàn văn, supported và unsupported vẫn gần đúng, nhưng contradicted chỉ đúng 0,15. Nhiều số bị đổi không nằm trong đơn vị rule biết so. Độ phủ từ còn cao nên rule gán supported. TF-IDF đạt 0,578 trên 14 mệnh đề người. PhoBERT-base, một epoch, đạt 0,925 trên dev tổng hợp nhưng chỉ 0,419 trên người, thấp hơn TF-IDF. F1 contradicted của PhoBERT là 0,222.</a:t>
            </a:r>
          </a:p>
          <a:p>
            <a:endParaRPr/>
          </a:p>
          <a:p>
            <a:r>
              <a:t>Chỉ vào: Số 0,15 trên thẻ đỏ, rồi mũi tên 0,925 sang 0,419.</a:t>
            </a:r>
          </a:p>
          <a:p>
            <a:endParaRPr/>
          </a:p>
          <a:p>
            <a:r>
              <a:t>Chuyển: RQ2 là vậy. Em gộp RQ1 và vòng sửa ở slide kế, vì cả hai cần đọc cùng hạn chế của tập nhỏ.</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trái là RQ1. Spearman giữa GGF của rule từng khoản và nhãn người bằng 1, trên rất ít nhóm. Thước đếm từ gần như không tương quan, khoảng âm 0,05, vì câu sai số vẫn gần nguyên văn khoản. RAGAS-style trong bài là 0,75. Giám khảo trong bài là 0,76, và giám khảo đó chính là GGF của rule, không phải mô hình lớn. Em không gọi RAGAS gốc. Với vài nhóm, em chưa kết luận tương quan ổn định. Điều hữu ích là thước có xét số bám người hơn thước đếm từ. Bên phải là RQ3. Trên 13 câu cố ý đổi mốc, GGF từ 0,231 lên 1, contradicted từ 0,744 về 0. Trên 20 câu đổi số của toàn văn, GGF từ 0,45 lên 1. Cơ chế là thay mảnh lệch bằng đoạn khoản đang đối chiếu. Vòng này chứng minh khi verifier chỉ đúng khoản thì sửa tất định xóa được contradicted. Chưa chứng minh một mô hình sinh viết lại câu cho đúng.</a:t>
            </a:r>
          </a:p>
          <a:p>
            <a:endParaRPr/>
          </a:p>
          <a:p>
            <a:r>
              <a:t>Chỉ vào: Cột phải, hai mũi tên về 1. Rồi dải xanh dưới: chưa kết luận tương quan.</a:t>
            </a:r>
          </a:p>
          <a:p>
            <a:endParaRPr/>
          </a:p>
          <a:p>
            <a:r>
              <a:t>Chuyển: Em mở demo ba nhịp cho đúng ba ý vừa nói: câu đúng, câu nói ngược, và vòng sửa.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chuyển sang trang local, cổng 8766. Slide này chỉ là phao. Nhịp một, hỏi nợ bao nhiêu tín chỉ thì bị cảnh báo. Kỳ vọng trích Điều 11, có vượt quá 24, nhãn supported, GGF bằng 1. Nhịp hai, đưa câu vượt quá 24 thì bị buộc thôi học. Kỳ vọng contradicted. Nếu gộp cả điều, nhãn có thể thành supported. Đó là lý do phải chấm từng khoản. Nhịp ba, câu thời gian tối đa bị đổi thành 03 lần, trong khi khoản ghi 02. Sau một vòng sửa, GGF về 1. Nếu trình duyệt không mở, em chạy python run.py demo, cùng ba ý này.</a:t>
            </a:r>
          </a:p>
          <a:p>
            <a:endParaRPr/>
          </a:p>
          <a:p>
            <a:r>
              <a:t>Chỉ vào: Làm trên trình duyệt, liếc slide khi cần câu mẫu.</a:t>
            </a:r>
          </a:p>
          <a:p>
            <a:endParaRPr/>
          </a:p>
          <a:p>
            <a:r>
              <a:t>Chuyển: Sau demo, em nói chỗ chưa được kết luận, rồi mới kết.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nêu hạn chế trước khi kết, vì các bảng dễ bị đọc quá mức. Chưa có người thứ hai, nên chưa có kappa. Mười bốn mệnh đề quá nhỏ để suy tương quan với người nói chung. ViHERMES có trong demo nhưng chưa vào bảng, vì bộ cần tài khoản. Năm hệ là cổng trên cùng BM25, không phải mã gốc. Thông tư 56 không phải file Công báo. Câu hỏi toàn văn phần lớn sinh từ chính đoạn vàng, nên Recall không đo câu người dùng hỏi tự do. Vòng sửa chưa có mô hình sinh.</a:t>
            </a:r>
          </a:p>
          <a:p>
            <a:endParaRPr/>
          </a:p>
          <a:p>
            <a:r>
              <a:t>Chỉ vào: Thẻ chưa có kappa và thẻ 14 mệnh đề.</a:t>
            </a:r>
          </a:p>
          <a:p>
            <a:endParaRPr/>
          </a:p>
          <a:p>
            <a:r>
              <a:t>Chuyển: Trong giới hạn vừa nói, em giữ lại ba điều.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giữ lại ba điều. Một, tìm được khoản trong pool chưa có nghĩa khoản đã vào câu. Pool cao nhất 0,633, câu trả lời chỉ khoảng 0,20 đến 0,27. Hai, rule số và hệ quả rất mạnh trên lỗi đã khai báo, macro-F1 bằng 1, và còn 0,436 nếu bỏ rule số. Trên mệnh đề dựng từ toàn văn, cùng rule chỉ đúng khoảng 0,15 mệnh đề contradicted. PhoBERT tinh chỉnh ngắn không vượt TF-IDF. Ba, vòng sửa tất định đưa contradicted về 0 khi đã chỉ đúng khoản. Đây là thay đoạn, chưa phải mô hình viết lại. Trước khi kết luận độ khớp với người, cần người chấm thứ hai, đưa miền y tế vào bảng, và một vòng sửa có mô hình sinh.</a:t>
            </a:r>
          </a:p>
          <a:p>
            <a:endParaRPr/>
          </a:p>
          <a:p>
            <a:r>
              <a:t>Chỉ vào: Ba số 0,27 · 0,15 · mũi tên về 1, rồi dải xanh việc còn lại.</a:t>
            </a:r>
          </a:p>
          <a:p>
            <a:endParaRPr/>
          </a:p>
          <a:p>
            <a:r>
              <a:t>Chuyển: Em dừng ở đây và mời câu hỏi. Demo vẫn mở nếu thầy cô muốn xem một câu.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cảm ơn thầy cô đã nghe. Em sẵn sàng mở demo hoặc trả lời câu hỏi. Nếu thầy cô muốn xem một số cụ thể, em ưu tiên ba chỗ: Recall pool 0,633 so với câu trả lời khoảng 0,27, macro-F1 từ 1,000 xuống 0,436 khi bỏ rule số, và độ đúng 0,15 của lớp contradicted trên toàn văn.</a:t>
            </a:r>
          </a:p>
          <a:p>
            <a:endParaRPr/>
          </a:p>
          <a:p>
            <a:r>
              <a:t>Chỉ vào: Ba thẻ số ở dưới.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29184" y="292608"/>
            <a:ext cx="5806440" cy="6272784"/>
          </a:xfrm>
          <a:prstGeom prst="roundRect">
            <a:avLst>
              <a:gd name="adj" fmla="val 8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434840" y="4709160"/>
            <a:ext cx="1417320" cy="1417320"/>
          </a:xfrm>
          <a:prstGeom prst="ellipse">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66928" y="5440680"/>
            <a:ext cx="640080" cy="640080"/>
          </a:xfrm>
          <a:prstGeom prst="ellipse">
            <a:avLst/>
          </a:prstGeom>
          <a:solidFill>
            <a:srgbClr val="13B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566928"/>
            <a:ext cx="5029200" cy="292608"/>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D7FFF6"/>
                </a:solidFill>
                <a:latin typeface="Arial"/>
                <a:ea typeface="Arial"/>
                <a:cs typeface="Arial"/>
              </a:rPr>
              <a:t>PROJECT 4   ·   CUỐI KỲ</a:t>
            </a:r>
          </a:p>
        </p:txBody>
      </p:sp>
      <p:sp>
        <p:nvSpPr>
          <p:cNvPr id="7" name="TextBox 6"/>
          <p:cNvSpPr txBox="1"/>
          <p:nvPr/>
        </p:nvSpPr>
        <p:spPr>
          <a:xfrm>
            <a:off x="640080" y="1051560"/>
            <a:ext cx="5120640" cy="777240"/>
          </a:xfrm>
          <a:prstGeom prst="rect">
            <a:avLst/>
          </a:prstGeom>
          <a:noFill/>
        </p:spPr>
        <p:txBody>
          <a:bodyPr wrap="square" lIns="18288" tIns="0" rIns="18288" bIns="0"/>
          <a:lstStyle/>
          <a:p>
            <a:pPr algn="l">
              <a:lnSpc>
                <a:spcPct val="100000"/>
              </a:lnSpc>
              <a:spcBef>
                <a:spcPts val="0"/>
              </a:spcBef>
              <a:spcAft>
                <a:spcPts val="200"/>
              </a:spcAft>
            </a:pPr>
            <a:r>
              <a:rPr sz="4400" b="1" i="0">
                <a:solidFill>
                  <a:srgbClr val="FFFFFF"/>
                </a:solidFill>
                <a:latin typeface="Arial"/>
                <a:ea typeface="Arial"/>
                <a:cs typeface="Arial"/>
              </a:rPr>
              <a:t>ViKAG-Faith</a:t>
            </a:r>
          </a:p>
        </p:txBody>
      </p:sp>
      <p:sp>
        <p:nvSpPr>
          <p:cNvPr id="8" name="TextBox 7"/>
          <p:cNvSpPr txBox="1"/>
          <p:nvPr/>
        </p:nvSpPr>
        <p:spPr>
          <a:xfrm>
            <a:off x="658368" y="1965960"/>
            <a:ext cx="4892040" cy="1234440"/>
          </a:xfrm>
          <a:prstGeom prst="rect">
            <a:avLst/>
          </a:prstGeom>
          <a:noFill/>
        </p:spPr>
        <p:txBody>
          <a:bodyPr wrap="square" lIns="18288" tIns="0" rIns="18288" bIns="0"/>
          <a:lstStyle/>
          <a:p>
            <a:pPr algn="l">
              <a:lnSpc>
                <a:spcPct val="105000"/>
              </a:lnSpc>
              <a:spcBef>
                <a:spcPts val="0"/>
              </a:spcBef>
              <a:spcAft>
                <a:spcPts val="200"/>
              </a:spcAft>
            </a:pPr>
            <a:r>
              <a:rPr sz="1800" b="0" i="0">
                <a:solidFill>
                  <a:srgbClr val="F3FFFC"/>
                </a:solidFill>
                <a:latin typeface="Arial"/>
                <a:ea typeface="Arial"/>
                <a:cs typeface="Arial"/>
              </a:rPr>
              <a:t>Đánh giá tính trung thực mức mệnh đề cho hỏi đáp quy chế đào tạo tiếng Việt.</a:t>
            </a:r>
          </a:p>
        </p:txBody>
      </p:sp>
      <p:sp>
        <p:nvSpPr>
          <p:cNvPr id="9" name="Rounded Rectangle 8"/>
          <p:cNvSpPr/>
          <p:nvPr/>
        </p:nvSpPr>
        <p:spPr>
          <a:xfrm>
            <a:off x="658368" y="3383280"/>
            <a:ext cx="4709160" cy="1051560"/>
          </a:xfrm>
          <a:prstGeom prst="roundRect">
            <a:avLst>
              <a:gd name="adj" fmla="val 14000"/>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wrap="square" lIns="201168" tIns="73152" rIns="146304" bIns="54864" rtlCol="0" anchor="ctr"/>
          <a:lstStyle/>
          <a:p>
            <a:pPr algn="l">
              <a:lnSpc>
                <a:spcPct val="105000"/>
              </a:lnSpc>
              <a:spcBef>
                <a:spcPts val="0"/>
              </a:spcBef>
              <a:spcAft>
                <a:spcPts val="200"/>
              </a:spcAft>
            </a:pPr>
            <a:r>
              <a:rPr sz="2000" b="1" i="0">
                <a:solidFill>
                  <a:srgbClr val="FFFFFF"/>
                </a:solidFill>
                <a:latin typeface="Arial"/>
                <a:ea typeface="Arial"/>
                <a:cs typeface="Arial"/>
              </a:rPr>
              <a:t>Không chấm cả câu.
Chấm từng mệnh đề.</a:t>
            </a:r>
          </a:p>
        </p:txBody>
      </p:sp>
      <p:sp>
        <p:nvSpPr>
          <p:cNvPr id="10" name="TextBox 9"/>
          <p:cNvSpPr txBox="1"/>
          <p:nvPr/>
        </p:nvSpPr>
        <p:spPr>
          <a:xfrm>
            <a:off x="658368" y="4709160"/>
            <a:ext cx="3657600" cy="64008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E7FFF9"/>
                </a:solidFill>
                <a:latin typeface="Arial"/>
                <a:ea typeface="Arial"/>
                <a:cs typeface="Arial"/>
              </a:rPr>
              <a:t>Xử lý ngôn ngữ tự nhiên
30 tháng 10 năm 2026</a:t>
            </a:r>
          </a:p>
        </p:txBody>
      </p:sp>
      <p:sp>
        <p:nvSpPr>
          <p:cNvPr id="11" name="TextBox 10"/>
          <p:cNvSpPr txBox="1"/>
          <p:nvPr/>
        </p:nvSpPr>
        <p:spPr>
          <a:xfrm>
            <a:off x="6446520" y="438912"/>
            <a:ext cx="5212080" cy="274320"/>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BUỔI NÓI ĐI QUA</a:t>
            </a:r>
          </a:p>
        </p:txBody>
      </p:sp>
      <p:sp>
        <p:nvSpPr>
          <p:cNvPr id="12" name="Rounded Rectangle 11"/>
          <p:cNvSpPr/>
          <p:nvPr/>
        </p:nvSpPr>
        <p:spPr>
          <a:xfrm>
            <a:off x="6400800" y="868680"/>
            <a:ext cx="5394960" cy="1115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lnSpc>
                <a:spcPct val="100000"/>
              </a:lnSpc>
              <a:spcBef>
                <a:spcPts val="0"/>
              </a:spcBef>
              <a:spcAft>
                <a:spcPts val="200"/>
              </a:spcAft>
            </a:pPr>
            <a:endParaRPr/>
          </a:p>
        </p:txBody>
      </p:sp>
      <p:sp>
        <p:nvSpPr>
          <p:cNvPr id="13" name="Oval 12"/>
          <p:cNvSpPr/>
          <p:nvPr/>
        </p:nvSpPr>
        <p:spPr>
          <a:xfrm>
            <a:off x="6601968" y="1161288"/>
            <a:ext cx="530352" cy="530352"/>
          </a:xfrm>
          <a:prstGeom prst="ellipse">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252728"/>
            <a:ext cx="530352" cy="365760"/>
          </a:xfrm>
          <a:prstGeom prst="rect">
            <a:avLst/>
          </a:prstGeom>
          <a:noFill/>
        </p:spPr>
        <p:txBody>
          <a:bodyPr wrap="square" lIns="18288" tIns="0" rIns="18288" bIns="0"/>
          <a:lstStyle/>
          <a:p>
            <a:pPr algn="ctr">
              <a:lnSpc>
                <a:spcPct val="100000"/>
              </a:lnSpc>
              <a:spcBef>
                <a:spcPts val="0"/>
              </a:spcBef>
              <a:spcAft>
                <a:spcPts val="200"/>
              </a:spcAft>
            </a:pPr>
            <a:r>
              <a:rPr sz="1200" b="1" i="0">
                <a:solidFill>
                  <a:srgbClr val="FFFFFF"/>
                </a:solidFill>
                <a:latin typeface="Arial"/>
                <a:ea typeface="Arial"/>
                <a:cs typeface="Arial"/>
              </a:rPr>
              <a:t>01</a:t>
            </a:r>
          </a:p>
        </p:txBody>
      </p:sp>
      <p:sp>
        <p:nvSpPr>
          <p:cNvPr id="15" name="TextBox 14"/>
          <p:cNvSpPr txBox="1"/>
          <p:nvPr/>
        </p:nvSpPr>
        <p:spPr>
          <a:xfrm>
            <a:off x="7315200" y="1069848"/>
            <a:ext cx="4251960" cy="384048"/>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Vì sao một câu xuôi vẫn sai</a:t>
            </a:r>
          </a:p>
        </p:txBody>
      </p:sp>
      <p:sp>
        <p:nvSpPr>
          <p:cNvPr id="16" name="TextBox 15"/>
          <p:cNvSpPr txBox="1"/>
          <p:nvPr/>
        </p:nvSpPr>
        <p:spPr>
          <a:xfrm>
            <a:off x="7315200" y="1453895"/>
            <a:ext cx="4251960" cy="347472"/>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Đổi số, đổi hệ quả, bịa thêm.</a:t>
            </a:r>
          </a:p>
        </p:txBody>
      </p:sp>
      <p:sp>
        <p:nvSpPr>
          <p:cNvPr id="17" name="Rounded Rectangle 16"/>
          <p:cNvSpPr/>
          <p:nvPr/>
        </p:nvSpPr>
        <p:spPr>
          <a:xfrm>
            <a:off x="6400800" y="2112264"/>
            <a:ext cx="5394960" cy="1115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lnSpc>
                <a:spcPct val="100000"/>
              </a:lnSpc>
              <a:spcBef>
                <a:spcPts val="0"/>
              </a:spcBef>
              <a:spcAft>
                <a:spcPts val="200"/>
              </a:spcAft>
            </a:pPr>
            <a:endParaRPr/>
          </a:p>
        </p:txBody>
      </p:sp>
      <p:sp>
        <p:nvSpPr>
          <p:cNvPr id="18" name="Oval 17"/>
          <p:cNvSpPr/>
          <p:nvPr/>
        </p:nvSpPr>
        <p:spPr>
          <a:xfrm>
            <a:off x="6601968" y="2404872"/>
            <a:ext cx="530352" cy="530352"/>
          </a:xfrm>
          <a:prstGeom prst="ellipse">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01968" y="2496312"/>
            <a:ext cx="530352" cy="365760"/>
          </a:xfrm>
          <a:prstGeom prst="rect">
            <a:avLst/>
          </a:prstGeom>
          <a:noFill/>
        </p:spPr>
        <p:txBody>
          <a:bodyPr wrap="square" lIns="18288" tIns="0" rIns="18288" bIns="0"/>
          <a:lstStyle/>
          <a:p>
            <a:pPr algn="ctr">
              <a:lnSpc>
                <a:spcPct val="100000"/>
              </a:lnSpc>
              <a:spcBef>
                <a:spcPts val="0"/>
              </a:spcBef>
              <a:spcAft>
                <a:spcPts val="200"/>
              </a:spcAft>
            </a:pPr>
            <a:r>
              <a:rPr sz="1200" b="1" i="0">
                <a:solidFill>
                  <a:srgbClr val="FFFFFF"/>
                </a:solidFill>
                <a:latin typeface="Arial"/>
                <a:ea typeface="Arial"/>
                <a:cs typeface="Arial"/>
              </a:rPr>
              <a:t>02</a:t>
            </a:r>
          </a:p>
        </p:txBody>
      </p:sp>
      <p:sp>
        <p:nvSpPr>
          <p:cNvPr id="20" name="TextBox 19"/>
          <p:cNvSpPr txBox="1"/>
          <p:nvPr/>
        </p:nvSpPr>
        <p:spPr>
          <a:xfrm>
            <a:off x="7315200" y="2313432"/>
            <a:ext cx="4251960" cy="384048"/>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Cách chấm trên đồ thị điều–khoản</a:t>
            </a:r>
          </a:p>
        </p:txBody>
      </p:sp>
      <p:sp>
        <p:nvSpPr>
          <p:cNvPr id="21" name="TextBox 20"/>
          <p:cNvSpPr txBox="1"/>
          <p:nvPr/>
        </p:nvSpPr>
        <p:spPr>
          <a:xfrm>
            <a:off x="7315200" y="2697480"/>
            <a:ext cx="4251960" cy="347472"/>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Ba nhãn và thước GGF.</a:t>
            </a:r>
          </a:p>
        </p:txBody>
      </p:sp>
      <p:sp>
        <p:nvSpPr>
          <p:cNvPr id="22" name="Rounded Rectangle 21"/>
          <p:cNvSpPr/>
          <p:nvPr/>
        </p:nvSpPr>
        <p:spPr>
          <a:xfrm>
            <a:off x="6400800" y="3355848"/>
            <a:ext cx="5394960" cy="1115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lnSpc>
                <a:spcPct val="100000"/>
              </a:lnSpc>
              <a:spcBef>
                <a:spcPts val="0"/>
              </a:spcBef>
              <a:spcAft>
                <a:spcPts val="200"/>
              </a:spcAft>
            </a:pPr>
            <a:endParaRPr/>
          </a:p>
        </p:txBody>
      </p:sp>
      <p:sp>
        <p:nvSpPr>
          <p:cNvPr id="23" name="Oval 22"/>
          <p:cNvSpPr/>
          <p:nvPr/>
        </p:nvSpPr>
        <p:spPr>
          <a:xfrm>
            <a:off x="6601968" y="3648456"/>
            <a:ext cx="530352" cy="530352"/>
          </a:xfrm>
          <a:prstGeom prst="ellipse">
            <a:avLst/>
          </a:prstGeom>
          <a:solidFill>
            <a:srgbClr val="6E6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01968" y="3739896"/>
            <a:ext cx="530352" cy="365760"/>
          </a:xfrm>
          <a:prstGeom prst="rect">
            <a:avLst/>
          </a:prstGeom>
          <a:noFill/>
        </p:spPr>
        <p:txBody>
          <a:bodyPr wrap="square" lIns="18288" tIns="0" rIns="18288" bIns="0"/>
          <a:lstStyle/>
          <a:p>
            <a:pPr algn="ctr">
              <a:lnSpc>
                <a:spcPct val="100000"/>
              </a:lnSpc>
              <a:spcBef>
                <a:spcPts val="0"/>
              </a:spcBef>
              <a:spcAft>
                <a:spcPts val="200"/>
              </a:spcAft>
            </a:pPr>
            <a:r>
              <a:rPr sz="1200" b="1" i="0">
                <a:solidFill>
                  <a:srgbClr val="FFFFFF"/>
                </a:solidFill>
                <a:latin typeface="Arial"/>
                <a:ea typeface="Arial"/>
                <a:cs typeface="Arial"/>
              </a:rPr>
              <a:t>03</a:t>
            </a:r>
          </a:p>
        </p:txBody>
      </p:sp>
      <p:sp>
        <p:nvSpPr>
          <p:cNvPr id="25" name="TextBox 24"/>
          <p:cNvSpPr txBox="1"/>
          <p:nvPr/>
        </p:nvSpPr>
        <p:spPr>
          <a:xfrm>
            <a:off x="7315200" y="3557016"/>
            <a:ext cx="4251960" cy="384048"/>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Số đã chạy trên CPU</a:t>
            </a:r>
          </a:p>
        </p:txBody>
      </p:sp>
      <p:sp>
        <p:nvSpPr>
          <p:cNvPr id="26" name="TextBox 25"/>
          <p:cNvSpPr txBox="1"/>
          <p:nvPr/>
        </p:nvSpPr>
        <p:spPr>
          <a:xfrm>
            <a:off x="7315200" y="3941063"/>
            <a:ext cx="4251960" cy="347472"/>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Truy hồi, verifier, vòng sửa.</a:t>
            </a:r>
          </a:p>
        </p:txBody>
      </p:sp>
      <p:sp>
        <p:nvSpPr>
          <p:cNvPr id="27" name="Rounded Rectangle 26"/>
          <p:cNvSpPr/>
          <p:nvPr/>
        </p:nvSpPr>
        <p:spPr>
          <a:xfrm>
            <a:off x="6400800" y="4599432"/>
            <a:ext cx="5394960" cy="11155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lnSpc>
                <a:spcPct val="100000"/>
              </a:lnSpc>
              <a:spcBef>
                <a:spcPts val="0"/>
              </a:spcBef>
              <a:spcAft>
                <a:spcPts val="200"/>
              </a:spcAft>
            </a:pPr>
            <a:endParaRPr/>
          </a:p>
        </p:txBody>
      </p:sp>
      <p:sp>
        <p:nvSpPr>
          <p:cNvPr id="28" name="Oval 27"/>
          <p:cNvSpPr/>
          <p:nvPr/>
        </p:nvSpPr>
        <p:spPr>
          <a:xfrm>
            <a:off x="6601968" y="4892040"/>
            <a:ext cx="530352" cy="530352"/>
          </a:xfrm>
          <a:prstGeom prst="ellipse">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4983480"/>
            <a:ext cx="530352" cy="365760"/>
          </a:xfrm>
          <a:prstGeom prst="rect">
            <a:avLst/>
          </a:prstGeom>
          <a:noFill/>
        </p:spPr>
        <p:txBody>
          <a:bodyPr wrap="square" lIns="18288" tIns="0" rIns="18288" bIns="0"/>
          <a:lstStyle/>
          <a:p>
            <a:pPr algn="ctr">
              <a:lnSpc>
                <a:spcPct val="100000"/>
              </a:lnSpc>
              <a:spcBef>
                <a:spcPts val="0"/>
              </a:spcBef>
              <a:spcAft>
                <a:spcPts val="200"/>
              </a:spcAft>
            </a:pPr>
            <a:r>
              <a:rPr sz="1200" b="1" i="0">
                <a:solidFill>
                  <a:srgbClr val="FFFFFF"/>
                </a:solidFill>
                <a:latin typeface="Arial"/>
                <a:ea typeface="Arial"/>
                <a:cs typeface="Arial"/>
              </a:rPr>
              <a:t>04</a:t>
            </a:r>
          </a:p>
        </p:txBody>
      </p:sp>
      <p:sp>
        <p:nvSpPr>
          <p:cNvPr id="30" name="TextBox 29"/>
          <p:cNvSpPr txBox="1"/>
          <p:nvPr/>
        </p:nvSpPr>
        <p:spPr>
          <a:xfrm>
            <a:off x="7315200" y="4800600"/>
            <a:ext cx="4251960" cy="384048"/>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Demo ba câu quy chế</a:t>
            </a:r>
          </a:p>
        </p:txBody>
      </p:sp>
      <p:sp>
        <p:nvSpPr>
          <p:cNvPr id="31" name="TextBox 30"/>
          <p:cNvSpPr txBox="1"/>
          <p:nvPr/>
        </p:nvSpPr>
        <p:spPr>
          <a:xfrm>
            <a:off x="7315200" y="5184648"/>
            <a:ext cx="4251960" cy="347472"/>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Đúng, nói ngược, rồi sửa.</a:t>
            </a:r>
          </a:p>
        </p:txBody>
      </p:sp>
      <p:sp>
        <p:nvSpPr>
          <p:cNvPr id="32" name="TextBox 31"/>
          <p:cNvSpPr txBox="1"/>
          <p:nvPr/>
        </p:nvSpPr>
        <p:spPr>
          <a:xfrm>
            <a:off x="6446520" y="5943600"/>
            <a:ext cx="5303520" cy="411480"/>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Khoảng 12 phút nói  ·  rồi demo trực tiếp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VẤN ĐỀ</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Câu nghe xuôi vẫn có thể sai quy chế</a:t>
            </a:r>
          </a:p>
        </p:txBody>
      </p:sp>
      <p:sp>
        <p:nvSpPr>
          <p:cNvPr id="7" name="Rounded Rectangle 6"/>
          <p:cNvSpPr/>
          <p:nvPr/>
        </p:nvSpPr>
        <p:spPr>
          <a:xfrm>
            <a:off x="438912" y="1143000"/>
            <a:ext cx="3657600" cy="3246120"/>
          </a:xfrm>
          <a:prstGeom prst="roundRect">
            <a:avLst>
              <a:gd name="adj" fmla="val 10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1143000"/>
            <a:ext cx="3657600" cy="91440"/>
          </a:xfrm>
          <a:prstGeom prst="rect">
            <a:avLst/>
          </a:prstGeom>
          <a:solidFill>
            <a:srgbClr val="E2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371600"/>
            <a:ext cx="3200400" cy="32004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E24B3C"/>
                </a:solidFill>
                <a:latin typeface="Arial"/>
                <a:ea typeface="Arial"/>
                <a:cs typeface="Arial"/>
              </a:rPr>
              <a:t>01</a:t>
            </a:r>
          </a:p>
        </p:txBody>
      </p:sp>
      <p:sp>
        <p:nvSpPr>
          <p:cNvPr id="10" name="TextBox 9"/>
          <p:cNvSpPr txBox="1"/>
          <p:nvPr/>
        </p:nvSpPr>
        <p:spPr>
          <a:xfrm>
            <a:off x="640080" y="1737360"/>
            <a:ext cx="3246120" cy="457200"/>
          </a:xfrm>
          <a:prstGeom prst="rect">
            <a:avLst/>
          </a:prstGeom>
          <a:noFill/>
        </p:spPr>
        <p:txBody>
          <a:bodyPr wrap="square" lIns="18288" tIns="0" rIns="18288" bIns="0"/>
          <a:lstStyle/>
          <a:p>
            <a:pPr algn="l">
              <a:lnSpc>
                <a:spcPct val="100000"/>
              </a:lnSpc>
              <a:spcBef>
                <a:spcPts val="0"/>
              </a:spcBef>
              <a:spcAft>
                <a:spcPts val="200"/>
              </a:spcAft>
            </a:pPr>
            <a:r>
              <a:rPr sz="2400" b="1" i="0">
                <a:solidFill>
                  <a:srgbClr val="1C2430"/>
                </a:solidFill>
                <a:latin typeface="Arial"/>
                <a:ea typeface="Arial"/>
                <a:cs typeface="Arial"/>
              </a:rPr>
              <a:t>Đổi số</a:t>
            </a:r>
          </a:p>
        </p:txBody>
      </p:sp>
      <p:sp>
        <p:nvSpPr>
          <p:cNvPr id="11" name="TextBox 10"/>
          <p:cNvSpPr txBox="1"/>
          <p:nvPr/>
        </p:nvSpPr>
        <p:spPr>
          <a:xfrm>
            <a:off x="640080" y="2377440"/>
            <a:ext cx="3246120" cy="77724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Nguồn ghi vượt quá 24 tín chỉ.</a:t>
            </a:r>
          </a:p>
        </p:txBody>
      </p:sp>
      <p:sp>
        <p:nvSpPr>
          <p:cNvPr id="12" name="TextBox 11"/>
          <p:cNvSpPr txBox="1"/>
          <p:nvPr/>
        </p:nvSpPr>
        <p:spPr>
          <a:xfrm>
            <a:off x="640080" y="3200400"/>
            <a:ext cx="3246120" cy="822960"/>
          </a:xfrm>
          <a:prstGeom prst="rect">
            <a:avLst/>
          </a:prstGeom>
          <a:noFill/>
        </p:spPr>
        <p:txBody>
          <a:bodyPr wrap="square" lIns="18288" tIns="0" rIns="18288" bIns="0"/>
          <a:lstStyle/>
          <a:p>
            <a:pPr algn="l">
              <a:lnSpc>
                <a:spcPct val="105000"/>
              </a:lnSpc>
              <a:spcBef>
                <a:spcPts val="0"/>
              </a:spcBef>
              <a:spcAft>
                <a:spcPts val="200"/>
              </a:spcAft>
            </a:pPr>
            <a:r>
              <a:rPr sz="1600" b="1" i="0">
                <a:solidFill>
                  <a:srgbClr val="1C2430"/>
                </a:solidFill>
                <a:latin typeface="Arial"/>
                <a:ea typeface="Arial"/>
                <a:cs typeface="Arial"/>
              </a:rPr>
              <a:t>Câu trả lời nói 30.</a:t>
            </a:r>
          </a:p>
        </p:txBody>
      </p:sp>
      <p:sp>
        <p:nvSpPr>
          <p:cNvPr id="13" name="Rounded Rectangle 12"/>
          <p:cNvSpPr/>
          <p:nvPr/>
        </p:nvSpPr>
        <p:spPr>
          <a:xfrm>
            <a:off x="4242816" y="1143000"/>
            <a:ext cx="3657600" cy="3246120"/>
          </a:xfrm>
          <a:prstGeom prst="roundRect">
            <a:avLst>
              <a:gd name="adj" fmla="val 10000"/>
            </a:avLst>
          </a:prstGeom>
          <a:solidFill>
            <a:srgbClr val="FFF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42816" y="1143000"/>
            <a:ext cx="3657600" cy="91440"/>
          </a:xfrm>
          <a:prstGeom prst="rect">
            <a:avLst/>
          </a:prstGeom>
          <a:solidFill>
            <a:srgbClr val="E24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3984" y="1371600"/>
            <a:ext cx="3200400" cy="32004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E24B3C"/>
                </a:solidFill>
                <a:latin typeface="Arial"/>
                <a:ea typeface="Arial"/>
                <a:cs typeface="Arial"/>
              </a:rPr>
              <a:t>02</a:t>
            </a:r>
          </a:p>
        </p:txBody>
      </p:sp>
      <p:sp>
        <p:nvSpPr>
          <p:cNvPr id="16" name="TextBox 15"/>
          <p:cNvSpPr txBox="1"/>
          <p:nvPr/>
        </p:nvSpPr>
        <p:spPr>
          <a:xfrm>
            <a:off x="4443984" y="1737360"/>
            <a:ext cx="3246120" cy="457200"/>
          </a:xfrm>
          <a:prstGeom prst="rect">
            <a:avLst/>
          </a:prstGeom>
          <a:noFill/>
        </p:spPr>
        <p:txBody>
          <a:bodyPr wrap="square" lIns="18288" tIns="0" rIns="18288" bIns="0"/>
          <a:lstStyle/>
          <a:p>
            <a:pPr algn="l">
              <a:lnSpc>
                <a:spcPct val="100000"/>
              </a:lnSpc>
              <a:spcBef>
                <a:spcPts val="0"/>
              </a:spcBef>
              <a:spcAft>
                <a:spcPts val="200"/>
              </a:spcAft>
            </a:pPr>
            <a:r>
              <a:rPr sz="2400" b="1" i="0">
                <a:solidFill>
                  <a:srgbClr val="1C2430"/>
                </a:solidFill>
                <a:latin typeface="Arial"/>
                <a:ea typeface="Arial"/>
                <a:cs typeface="Arial"/>
              </a:rPr>
              <a:t>Đổi hệ quả</a:t>
            </a:r>
          </a:p>
        </p:txBody>
      </p:sp>
      <p:sp>
        <p:nvSpPr>
          <p:cNvPr id="17" name="TextBox 16"/>
          <p:cNvSpPr txBox="1"/>
          <p:nvPr/>
        </p:nvSpPr>
        <p:spPr>
          <a:xfrm>
            <a:off x="4443984" y="2377440"/>
            <a:ext cx="3246120" cy="77724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Số 24 vẫn đúng, nhưng cảnh báo học tập</a:t>
            </a:r>
          </a:p>
        </p:txBody>
      </p:sp>
      <p:sp>
        <p:nvSpPr>
          <p:cNvPr id="18" name="TextBox 17"/>
          <p:cNvSpPr txBox="1"/>
          <p:nvPr/>
        </p:nvSpPr>
        <p:spPr>
          <a:xfrm>
            <a:off x="4443984" y="3200400"/>
            <a:ext cx="3246120" cy="822960"/>
          </a:xfrm>
          <a:prstGeom prst="rect">
            <a:avLst/>
          </a:prstGeom>
          <a:noFill/>
        </p:spPr>
        <p:txBody>
          <a:bodyPr wrap="square" lIns="18288" tIns="0" rIns="18288" bIns="0"/>
          <a:lstStyle/>
          <a:p>
            <a:pPr algn="l">
              <a:lnSpc>
                <a:spcPct val="105000"/>
              </a:lnSpc>
              <a:spcBef>
                <a:spcPts val="0"/>
              </a:spcBef>
              <a:spcAft>
                <a:spcPts val="200"/>
              </a:spcAft>
            </a:pPr>
            <a:r>
              <a:rPr sz="1600" b="1" i="0">
                <a:solidFill>
                  <a:srgbClr val="1C2430"/>
                </a:solidFill>
                <a:latin typeface="Arial"/>
                <a:ea typeface="Arial"/>
                <a:cs typeface="Arial"/>
              </a:rPr>
              <a:t>bị nói thành buộc thôi học.</a:t>
            </a:r>
          </a:p>
        </p:txBody>
      </p:sp>
      <p:sp>
        <p:nvSpPr>
          <p:cNvPr id="19" name="Rounded Rectangle 18"/>
          <p:cNvSpPr/>
          <p:nvPr/>
        </p:nvSpPr>
        <p:spPr>
          <a:xfrm>
            <a:off x="8046720" y="1143000"/>
            <a:ext cx="3657600" cy="3246120"/>
          </a:xfrm>
          <a:prstGeom prst="roundRect">
            <a:avLst>
              <a:gd name="adj" fmla="val 10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6720" y="1143000"/>
            <a:ext cx="3657600" cy="91440"/>
          </a:xfrm>
          <a:prstGeom prst="rect">
            <a:avLst/>
          </a:prstGeom>
          <a:solidFill>
            <a:srgbClr val="A162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47888" y="1371600"/>
            <a:ext cx="3200400" cy="32004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A16207"/>
                </a:solidFill>
                <a:latin typeface="Arial"/>
                <a:ea typeface="Arial"/>
                <a:cs typeface="Arial"/>
              </a:rPr>
              <a:t>03</a:t>
            </a:r>
          </a:p>
        </p:txBody>
      </p:sp>
      <p:sp>
        <p:nvSpPr>
          <p:cNvPr id="22" name="TextBox 21"/>
          <p:cNvSpPr txBox="1"/>
          <p:nvPr/>
        </p:nvSpPr>
        <p:spPr>
          <a:xfrm>
            <a:off x="8247888" y="1737360"/>
            <a:ext cx="3246120" cy="457200"/>
          </a:xfrm>
          <a:prstGeom prst="rect">
            <a:avLst/>
          </a:prstGeom>
          <a:noFill/>
        </p:spPr>
        <p:txBody>
          <a:bodyPr wrap="square" lIns="18288" tIns="0" rIns="18288" bIns="0"/>
          <a:lstStyle/>
          <a:p>
            <a:pPr algn="l">
              <a:lnSpc>
                <a:spcPct val="100000"/>
              </a:lnSpc>
              <a:spcBef>
                <a:spcPts val="0"/>
              </a:spcBef>
              <a:spcAft>
                <a:spcPts val="200"/>
              </a:spcAft>
            </a:pPr>
            <a:r>
              <a:rPr sz="2400" b="1" i="0">
                <a:solidFill>
                  <a:srgbClr val="1C2430"/>
                </a:solidFill>
                <a:latin typeface="Arial"/>
                <a:ea typeface="Arial"/>
                <a:cs typeface="Arial"/>
              </a:rPr>
              <a:t>Bịa thêm</a:t>
            </a:r>
          </a:p>
        </p:txBody>
      </p:sp>
      <p:sp>
        <p:nvSpPr>
          <p:cNvPr id="23" name="TextBox 22"/>
          <p:cNvSpPr txBox="1"/>
          <p:nvPr/>
        </p:nvSpPr>
        <p:spPr>
          <a:xfrm>
            <a:off x="8247888" y="2377440"/>
            <a:ext cx="3246120" cy="77724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Khoản không nói tiền thưởng.</a:t>
            </a:r>
          </a:p>
        </p:txBody>
      </p:sp>
      <p:sp>
        <p:nvSpPr>
          <p:cNvPr id="24" name="TextBox 23"/>
          <p:cNvSpPr txBox="1"/>
          <p:nvPr/>
        </p:nvSpPr>
        <p:spPr>
          <a:xfrm>
            <a:off x="8247888" y="3200400"/>
            <a:ext cx="3246120" cy="822960"/>
          </a:xfrm>
          <a:prstGeom prst="rect">
            <a:avLst/>
          </a:prstGeom>
          <a:noFill/>
        </p:spPr>
        <p:txBody>
          <a:bodyPr wrap="square" lIns="18288" tIns="0" rIns="18288" bIns="0"/>
          <a:lstStyle/>
          <a:p>
            <a:pPr algn="l">
              <a:lnSpc>
                <a:spcPct val="105000"/>
              </a:lnSpc>
              <a:spcBef>
                <a:spcPts val="0"/>
              </a:spcBef>
              <a:spcAft>
                <a:spcPts val="200"/>
              </a:spcAft>
            </a:pPr>
            <a:r>
              <a:rPr sz="1600" b="1" i="0">
                <a:solidFill>
                  <a:srgbClr val="1C2430"/>
                </a:solidFill>
                <a:latin typeface="Arial"/>
                <a:ea typeface="Arial"/>
                <a:cs typeface="Arial"/>
              </a:rPr>
              <a:t>Câu thêm 3 triệu mỗi học kỳ.</a:t>
            </a:r>
          </a:p>
        </p:txBody>
      </p:sp>
      <p:sp>
        <p:nvSpPr>
          <p:cNvPr id="25" name="Rounded Rectangle 24"/>
          <p:cNvSpPr/>
          <p:nvPr/>
        </p:nvSpPr>
        <p:spPr>
          <a:xfrm>
            <a:off x="438912" y="4617720"/>
            <a:ext cx="11320272" cy="16916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256032" tIns="146304" rIns="219456" bIns="91440" rtlCol="0" anchor="ctr"/>
          <a:lstStyle/>
          <a:p>
            <a:pPr algn="l">
              <a:lnSpc>
                <a:spcPct val="100000"/>
              </a:lnSpc>
              <a:spcBef>
                <a:spcPts val="0"/>
              </a:spcBef>
              <a:spcAft>
                <a:spcPts val="600"/>
              </a:spcAft>
            </a:pPr>
            <a:r>
              <a:rPr sz="1600" b="1" i="0">
                <a:solidFill>
                  <a:srgbClr val="0B6E62"/>
                </a:solidFill>
                <a:latin typeface="Arial"/>
                <a:ea typeface="Arial"/>
                <a:cs typeface="Arial"/>
              </a:rPr>
              <a:t>Vì sao thước cũ không đủ</a:t>
            </a:r>
          </a:p>
          <a:p>
            <a:pPr algn="l">
              <a:lnSpc>
                <a:spcPct val="105000"/>
              </a:lnSpc>
              <a:spcBef>
                <a:spcPts val="0"/>
              </a:spcBef>
              <a:spcAft>
                <a:spcPts val="400"/>
              </a:spcAft>
            </a:pPr>
            <a:r>
              <a:rPr sz="1600" b="0" i="0">
                <a:solidFill>
                  <a:srgbClr val="1C2430"/>
                </a:solidFill>
                <a:latin typeface="Arial"/>
                <a:ea typeface="Arial"/>
                <a:cs typeface="Arial"/>
              </a:rPr>
              <a:t>F1 của cả câu, và điểm một giám khảo chấm cả câu, gộp ba lỗi này thành một số. Người đọc không thấy mệnh đề nào được khoản kéo theo, mệnh đề nào nói ngược, mệnh đề nào bịa.</a:t>
            </a:r>
          </a:p>
          <a:p>
            <a:pPr algn="l">
              <a:lnSpc>
                <a:spcPct val="102000"/>
              </a:lnSpc>
              <a:spcBef>
                <a:spcPts val="0"/>
              </a:spcBef>
              <a:spcAft>
                <a:spcPts val="200"/>
              </a:spcAft>
            </a:pPr>
            <a:r>
              <a:rPr sz="1400" b="0" i="0">
                <a:solidFill>
                  <a:srgbClr val="5C6B7A"/>
                </a:solidFill>
                <a:latin typeface="Arial"/>
                <a:ea typeface="Arial"/>
                <a:cs typeface="Arial"/>
              </a:rPr>
              <a:t>Lỗi đổi hệ quả nguy hiểm hơn lỗi thiếu chi tiết, nên contradicted đứng riêng, không gộp với unsupported.</a:t>
            </a:r>
          </a:p>
        </p:txBody>
      </p:sp>
      <p:sp>
        <p:nvSpPr>
          <p:cNvPr id="26" name="Rectangle 25"/>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8" name="Rounded Rectangle 27"/>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CÂU HỎI NGHIÊN CỨU</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Ba câu hỏi, trả lời ngắn trước</a:t>
            </a:r>
          </a:p>
        </p:txBody>
      </p:sp>
      <p:sp>
        <p:nvSpPr>
          <p:cNvPr id="7" name="Rounded Rectangle 6"/>
          <p:cNvSpPr/>
          <p:nvPr/>
        </p:nvSpPr>
        <p:spPr>
          <a:xfrm>
            <a:off x="438912" y="1115568"/>
            <a:ext cx="11320272"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0080" y="1572768"/>
            <a:ext cx="1051560" cy="640080"/>
          </a:xfrm>
          <a:prstGeom prst="roundRect">
            <a:avLst>
              <a:gd name="adj" fmla="val 18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600" b="1" i="0">
                <a:solidFill>
                  <a:srgbClr val="FFFFFF"/>
                </a:solidFill>
                <a:latin typeface="Arial"/>
                <a:ea typeface="Arial"/>
                <a:cs typeface="Arial"/>
              </a:rPr>
              <a:t>RQ1</a:t>
            </a:r>
          </a:p>
        </p:txBody>
      </p:sp>
      <p:sp>
        <p:nvSpPr>
          <p:cNvPr id="9" name="TextBox 8"/>
          <p:cNvSpPr txBox="1"/>
          <p:nvPr/>
        </p:nvSpPr>
        <p:spPr>
          <a:xfrm>
            <a:off x="1920240" y="1280160"/>
            <a:ext cx="950976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Thước tự động khớp người tới đâu?</a:t>
            </a:r>
          </a:p>
        </p:txBody>
      </p:sp>
      <p:sp>
        <p:nvSpPr>
          <p:cNvPr id="10" name="TextBox 9"/>
          <p:cNvSpPr txBox="1"/>
          <p:nvPr/>
        </p:nvSpPr>
        <p:spPr>
          <a:xfrm>
            <a:off x="1920240" y="1773936"/>
            <a:ext cx="9509760" cy="73152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Thước có xét số và hệ quả bám nhãn người hơn thước đếm từ. Tập người còn quá nhỏ để kết luận tương quan ổn định.</a:t>
            </a:r>
          </a:p>
        </p:txBody>
      </p:sp>
      <p:sp>
        <p:nvSpPr>
          <p:cNvPr id="11" name="Rounded Rectangle 10"/>
          <p:cNvSpPr/>
          <p:nvPr/>
        </p:nvSpPr>
        <p:spPr>
          <a:xfrm>
            <a:off x="438912" y="2816352"/>
            <a:ext cx="11320272"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 y="3273552"/>
            <a:ext cx="1051560" cy="640080"/>
          </a:xfrm>
          <a:prstGeom prst="roundRect">
            <a:avLst>
              <a:gd name="adj" fmla="val 18000"/>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600" b="1" i="0">
                <a:solidFill>
                  <a:srgbClr val="FFFFFF"/>
                </a:solidFill>
                <a:latin typeface="Arial"/>
                <a:ea typeface="Arial"/>
                <a:cs typeface="Arial"/>
              </a:rPr>
              <a:t>RQ2</a:t>
            </a:r>
          </a:p>
        </p:txBody>
      </p:sp>
      <p:sp>
        <p:nvSpPr>
          <p:cNvPr id="13" name="TextBox 12"/>
          <p:cNvSpPr txBox="1"/>
          <p:nvPr/>
        </p:nvSpPr>
        <p:spPr>
          <a:xfrm>
            <a:off x="1920240" y="2980944"/>
            <a:ext cx="950976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Từng khoản và rule số có hơn gộp cả điều?</a:t>
            </a:r>
          </a:p>
        </p:txBody>
      </p:sp>
      <p:sp>
        <p:nvSpPr>
          <p:cNvPr id="14" name="TextBox 13"/>
          <p:cNvSpPr txBox="1"/>
          <p:nvPr/>
        </p:nvSpPr>
        <p:spPr>
          <a:xfrm>
            <a:off x="1920240" y="3474720"/>
            <a:ext cx="9509760" cy="73152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Có, trên 14 mệnh đề đã biết: macro-F1 1,000, bỏ rule số còn 0,436. Trên toàn văn, lớp contradicted chỉ đúng khoảng 0,15.</a:t>
            </a:r>
          </a:p>
        </p:txBody>
      </p:sp>
      <p:sp>
        <p:nvSpPr>
          <p:cNvPr id="15" name="Rounded Rectangle 14"/>
          <p:cNvSpPr/>
          <p:nvPr/>
        </p:nvSpPr>
        <p:spPr>
          <a:xfrm>
            <a:off x="438912" y="4517136"/>
            <a:ext cx="11320272" cy="1572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4974336"/>
            <a:ext cx="1051560" cy="640080"/>
          </a:xfrm>
          <a:prstGeom prst="roundRect">
            <a:avLst>
              <a:gd name="adj" fmla="val 18000"/>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600" b="1" i="0">
                <a:solidFill>
                  <a:srgbClr val="FFFFFF"/>
                </a:solidFill>
                <a:latin typeface="Arial"/>
                <a:ea typeface="Arial"/>
                <a:cs typeface="Arial"/>
              </a:rPr>
              <a:t>RQ3</a:t>
            </a:r>
          </a:p>
        </p:txBody>
      </p:sp>
      <p:sp>
        <p:nvSpPr>
          <p:cNvPr id="17" name="TextBox 16"/>
          <p:cNvSpPr txBox="1"/>
          <p:nvPr/>
        </p:nvSpPr>
        <p:spPr>
          <a:xfrm>
            <a:off x="1920240" y="4681728"/>
            <a:ext cx="950976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Vòng sửa có giảm câu nói ngược?</a:t>
            </a:r>
          </a:p>
        </p:txBody>
      </p:sp>
      <p:sp>
        <p:nvSpPr>
          <p:cNvPr id="18" name="TextBox 17"/>
          <p:cNvSpPr txBox="1"/>
          <p:nvPr/>
        </p:nvSpPr>
        <p:spPr>
          <a:xfrm>
            <a:off x="1920240" y="5175504"/>
            <a:ext cx="9509760" cy="73152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Có, khi thay mảnh lệch bằng đúng khoản: contradicted về 0. Chưa phải mô hình sinh viết lại, chưa đo F1 câu viết.</a:t>
            </a:r>
          </a:p>
        </p:txBody>
      </p:sp>
      <p:sp>
        <p:nvSpPr>
          <p:cNvPr id="19" name="Rectangle 18"/>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1" name="Rounded Rectangle 20"/>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ĐÓNG GÓP</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Bốn thứ đã chạy được trong mã</a:t>
            </a:r>
          </a:p>
        </p:txBody>
      </p:sp>
      <p:sp>
        <p:nvSpPr>
          <p:cNvPr id="7" name="Rounded Rectangle 6"/>
          <p:cNvSpPr/>
          <p:nvPr/>
        </p:nvSpPr>
        <p:spPr>
          <a:xfrm>
            <a:off x="438912" y="1115568"/>
            <a:ext cx="5623560" cy="2423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94944" y="1408176"/>
            <a:ext cx="566928" cy="566928"/>
          </a:xfrm>
          <a:prstGeom prst="ellipse">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517904"/>
            <a:ext cx="566928" cy="365760"/>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01</a:t>
            </a:r>
          </a:p>
        </p:txBody>
      </p:sp>
      <p:sp>
        <p:nvSpPr>
          <p:cNvPr id="10" name="TextBox 9"/>
          <p:cNvSpPr txBox="1"/>
          <p:nvPr/>
        </p:nvSpPr>
        <p:spPr>
          <a:xfrm>
            <a:off x="1444752" y="1463040"/>
            <a:ext cx="4297680" cy="457200"/>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Đồ thị và bộ câu</a:t>
            </a:r>
          </a:p>
        </p:txBody>
      </p:sp>
      <p:sp>
        <p:nvSpPr>
          <p:cNvPr id="11" name="TextBox 10"/>
          <p:cNvSpPr txBox="1"/>
          <p:nvPr/>
        </p:nvSpPr>
        <p:spPr>
          <a:xfrm>
            <a:off x="694944" y="2212848"/>
            <a:ext cx="5120640"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Ba thông tư công khai, đồ thị điều–khoản, và ViEduReg trên Thông tư 56/2026.</a:t>
            </a:r>
          </a:p>
        </p:txBody>
      </p:sp>
      <p:sp>
        <p:nvSpPr>
          <p:cNvPr id="12" name="Rounded Rectangle 11"/>
          <p:cNvSpPr/>
          <p:nvPr/>
        </p:nvSpPr>
        <p:spPr>
          <a:xfrm>
            <a:off x="6108192" y="1115568"/>
            <a:ext cx="5623560" cy="2423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364224" y="1408176"/>
            <a:ext cx="566928" cy="566928"/>
          </a:xfrm>
          <a:prstGeom prst="ellipse">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517904"/>
            <a:ext cx="566928" cy="365760"/>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02</a:t>
            </a:r>
          </a:p>
        </p:txBody>
      </p:sp>
      <p:sp>
        <p:nvSpPr>
          <p:cNvPr id="15" name="TextBox 14"/>
          <p:cNvSpPr txBox="1"/>
          <p:nvPr/>
        </p:nvSpPr>
        <p:spPr>
          <a:xfrm>
            <a:off x="7114031" y="1463040"/>
            <a:ext cx="4297680" cy="457200"/>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GGF và ba nhãn</a:t>
            </a:r>
          </a:p>
        </p:txBody>
      </p:sp>
      <p:sp>
        <p:nvSpPr>
          <p:cNvPr id="16" name="TextBox 15"/>
          <p:cNvSpPr txBox="1"/>
          <p:nvPr/>
        </p:nvSpPr>
        <p:spPr>
          <a:xfrm>
            <a:off x="6364224" y="2212848"/>
            <a:ext cx="5120640"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Supported, contradicted, unsupported, kèm guideline gán nhãn.</a:t>
            </a:r>
          </a:p>
        </p:txBody>
      </p:sp>
      <p:sp>
        <p:nvSpPr>
          <p:cNvPr id="17" name="Rounded Rectangle 16"/>
          <p:cNvSpPr/>
          <p:nvPr/>
        </p:nvSpPr>
        <p:spPr>
          <a:xfrm>
            <a:off x="438912" y="3703320"/>
            <a:ext cx="5623560" cy="2423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94944" y="3995928"/>
            <a:ext cx="566928" cy="566928"/>
          </a:xfrm>
          <a:prstGeom prst="ellipse">
            <a:avLst/>
          </a:prstGeom>
          <a:solidFill>
            <a:srgbClr val="6E6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 y="4105656"/>
            <a:ext cx="566928" cy="365760"/>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03</a:t>
            </a:r>
          </a:p>
        </p:txBody>
      </p:sp>
      <p:sp>
        <p:nvSpPr>
          <p:cNvPr id="20" name="TextBox 19"/>
          <p:cNvSpPr txBox="1"/>
          <p:nvPr/>
        </p:nvSpPr>
        <p:spPr>
          <a:xfrm>
            <a:off x="1444752" y="4050791"/>
            <a:ext cx="4297680" cy="457200"/>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Năm cổng, một chỉ mục</a:t>
            </a:r>
          </a:p>
        </p:txBody>
      </p:sp>
      <p:sp>
        <p:nvSpPr>
          <p:cNvPr id="21" name="TextBox 20"/>
          <p:cNvSpPr txBox="1"/>
          <p:nvPr/>
        </p:nvSpPr>
        <p:spPr>
          <a:xfrm>
            <a:off x="694944" y="4800600"/>
            <a:ext cx="5120640"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Cùng BM25, để so cách đi trên đồ thị khi phần tìm từ giống nhau.</a:t>
            </a:r>
          </a:p>
        </p:txBody>
      </p:sp>
      <p:sp>
        <p:nvSpPr>
          <p:cNvPr id="22" name="Rounded Rectangle 21"/>
          <p:cNvSpPr/>
          <p:nvPr/>
        </p:nvSpPr>
        <p:spPr>
          <a:xfrm>
            <a:off x="6108192" y="3703320"/>
            <a:ext cx="5623560" cy="2423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64224" y="3995928"/>
            <a:ext cx="566928" cy="566928"/>
          </a:xfrm>
          <a:prstGeom prst="ellipse">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64224" y="4105656"/>
            <a:ext cx="566928" cy="365760"/>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04</a:t>
            </a:r>
          </a:p>
        </p:txBody>
      </p:sp>
      <p:sp>
        <p:nvSpPr>
          <p:cNvPr id="25" name="TextBox 24"/>
          <p:cNvSpPr txBox="1"/>
          <p:nvPr/>
        </p:nvSpPr>
        <p:spPr>
          <a:xfrm>
            <a:off x="7114031" y="4050791"/>
            <a:ext cx="4297680" cy="457200"/>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Chỗ thước chưa đứng</a:t>
            </a:r>
          </a:p>
        </p:txBody>
      </p:sp>
      <p:sp>
        <p:nvSpPr>
          <p:cNvPr id="26" name="TextBox 25"/>
          <p:cNvSpPr txBox="1"/>
          <p:nvPr/>
        </p:nvSpPr>
        <p:spPr>
          <a:xfrm>
            <a:off x="6364224" y="4800600"/>
            <a:ext cx="5120640"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5C6B7A"/>
                </a:solidFill>
                <a:latin typeface="Arial"/>
                <a:ea typeface="Arial"/>
                <a:cs typeface="Arial"/>
              </a:rPr>
              <a:t>Điểm gần tuyệt đối trên 14 mệnh đề không giữ được khi dựng mệnh đề từ toàn văn.</a:t>
            </a:r>
          </a:p>
        </p:txBody>
      </p:sp>
      <p:sp>
        <p:nvSpPr>
          <p:cNvPr id="27" name="Rectangle 26"/>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9" name="Rounded Rectangle 28"/>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PHƯƠNG PHÁP</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Một câu hỏi đi qua bảy bước</a:t>
            </a:r>
          </a:p>
        </p:txBody>
      </p:sp>
      <p:sp>
        <p:nvSpPr>
          <p:cNvPr id="7" name="Rounded Rectangle 6"/>
          <p:cNvSpPr/>
          <p:nvPr/>
        </p:nvSpPr>
        <p:spPr>
          <a:xfrm>
            <a:off x="384048"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9536" y="1371600"/>
            <a:ext cx="502920" cy="502920"/>
          </a:xfrm>
          <a:prstGeom prst="ellipse">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1</a:t>
            </a:r>
          </a:p>
        </p:txBody>
      </p:sp>
      <p:sp>
        <p:nvSpPr>
          <p:cNvPr id="10" name="TextBox 9"/>
          <p:cNvSpPr txBox="1"/>
          <p:nvPr/>
        </p:nvSpPr>
        <p:spPr>
          <a:xfrm>
            <a:off x="457200"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Hỏi</a:t>
            </a:r>
          </a:p>
        </p:txBody>
      </p:sp>
      <p:sp>
        <p:nvSpPr>
          <p:cNvPr id="11" name="TextBox 10"/>
          <p:cNvSpPr txBox="1"/>
          <p:nvPr/>
        </p:nvSpPr>
        <p:spPr>
          <a:xfrm>
            <a:off x="1737360"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12" name="Rounded Rectangle 11"/>
          <p:cNvSpPr/>
          <p:nvPr/>
        </p:nvSpPr>
        <p:spPr>
          <a:xfrm>
            <a:off x="2066544"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542032" y="1371600"/>
            <a:ext cx="502920" cy="502920"/>
          </a:xfrm>
          <a:prstGeom prst="ellipse">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42032"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2</a:t>
            </a:r>
          </a:p>
        </p:txBody>
      </p:sp>
      <p:sp>
        <p:nvSpPr>
          <p:cNvPr id="15" name="TextBox 14"/>
          <p:cNvSpPr txBox="1"/>
          <p:nvPr/>
        </p:nvSpPr>
        <p:spPr>
          <a:xfrm>
            <a:off x="2139696"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Truy hồi</a:t>
            </a:r>
          </a:p>
        </p:txBody>
      </p:sp>
      <p:sp>
        <p:nvSpPr>
          <p:cNvPr id="16" name="TextBox 15"/>
          <p:cNvSpPr txBox="1"/>
          <p:nvPr/>
        </p:nvSpPr>
        <p:spPr>
          <a:xfrm>
            <a:off x="3419856"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17" name="Rounded Rectangle 16"/>
          <p:cNvSpPr/>
          <p:nvPr/>
        </p:nvSpPr>
        <p:spPr>
          <a:xfrm>
            <a:off x="3749040"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224528" y="1371600"/>
            <a:ext cx="502920" cy="502920"/>
          </a:xfrm>
          <a:prstGeom prst="ellipse">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24528"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3</a:t>
            </a:r>
          </a:p>
        </p:txBody>
      </p:sp>
      <p:sp>
        <p:nvSpPr>
          <p:cNvPr id="20" name="TextBox 19"/>
          <p:cNvSpPr txBox="1"/>
          <p:nvPr/>
        </p:nvSpPr>
        <p:spPr>
          <a:xfrm>
            <a:off x="3822192"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Trích khoản</a:t>
            </a:r>
          </a:p>
        </p:txBody>
      </p:sp>
      <p:sp>
        <p:nvSpPr>
          <p:cNvPr id="21" name="TextBox 20"/>
          <p:cNvSpPr txBox="1"/>
          <p:nvPr/>
        </p:nvSpPr>
        <p:spPr>
          <a:xfrm>
            <a:off x="5102352"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22" name="Rounded Rectangle 21"/>
          <p:cNvSpPr/>
          <p:nvPr/>
        </p:nvSpPr>
        <p:spPr>
          <a:xfrm>
            <a:off x="5431536"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907024" y="1371600"/>
            <a:ext cx="502920" cy="502920"/>
          </a:xfrm>
          <a:prstGeom prst="ellipse">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07024"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4</a:t>
            </a:r>
          </a:p>
        </p:txBody>
      </p:sp>
      <p:sp>
        <p:nvSpPr>
          <p:cNvPr id="25" name="TextBox 24"/>
          <p:cNvSpPr txBox="1"/>
          <p:nvPr/>
        </p:nvSpPr>
        <p:spPr>
          <a:xfrm>
            <a:off x="5504688"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Tách mệnh đề</a:t>
            </a:r>
          </a:p>
        </p:txBody>
      </p:sp>
      <p:sp>
        <p:nvSpPr>
          <p:cNvPr id="26" name="TextBox 25"/>
          <p:cNvSpPr txBox="1"/>
          <p:nvPr/>
        </p:nvSpPr>
        <p:spPr>
          <a:xfrm>
            <a:off x="6784848"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27" name="Rounded Rectangle 26"/>
          <p:cNvSpPr/>
          <p:nvPr/>
        </p:nvSpPr>
        <p:spPr>
          <a:xfrm>
            <a:off x="7114032"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589520" y="1371600"/>
            <a:ext cx="502920" cy="502920"/>
          </a:xfrm>
          <a:prstGeom prst="ellipse">
            <a:avLst/>
          </a:prstGeom>
          <a:solidFill>
            <a:srgbClr val="6E6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0"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5</a:t>
            </a:r>
          </a:p>
        </p:txBody>
      </p:sp>
      <p:sp>
        <p:nvSpPr>
          <p:cNvPr id="30" name="TextBox 29"/>
          <p:cNvSpPr txBox="1"/>
          <p:nvPr/>
        </p:nvSpPr>
        <p:spPr>
          <a:xfrm>
            <a:off x="7187184"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Ba nhãn</a:t>
            </a:r>
          </a:p>
        </p:txBody>
      </p:sp>
      <p:sp>
        <p:nvSpPr>
          <p:cNvPr id="31" name="TextBox 30"/>
          <p:cNvSpPr txBox="1"/>
          <p:nvPr/>
        </p:nvSpPr>
        <p:spPr>
          <a:xfrm>
            <a:off x="8467344"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32" name="Rounded Rectangle 31"/>
          <p:cNvSpPr/>
          <p:nvPr/>
        </p:nvSpPr>
        <p:spPr>
          <a:xfrm>
            <a:off x="8796528"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272016" y="1371600"/>
            <a:ext cx="502920" cy="502920"/>
          </a:xfrm>
          <a:prstGeom prst="ellipse">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72016"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6</a:t>
            </a:r>
          </a:p>
        </p:txBody>
      </p:sp>
      <p:sp>
        <p:nvSpPr>
          <p:cNvPr id="35" name="TextBox 34"/>
          <p:cNvSpPr txBox="1"/>
          <p:nvPr/>
        </p:nvSpPr>
        <p:spPr>
          <a:xfrm>
            <a:off x="8869680"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Điểm GGF</a:t>
            </a:r>
          </a:p>
        </p:txBody>
      </p:sp>
      <p:sp>
        <p:nvSpPr>
          <p:cNvPr id="36" name="TextBox 35"/>
          <p:cNvSpPr txBox="1"/>
          <p:nvPr/>
        </p:nvSpPr>
        <p:spPr>
          <a:xfrm>
            <a:off x="10149840" y="1737360"/>
            <a:ext cx="256032" cy="36576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E9A86"/>
                </a:solidFill>
                <a:latin typeface="Arial"/>
                <a:ea typeface="Arial"/>
                <a:cs typeface="Arial"/>
              </a:rPr>
              <a:t>›</a:t>
            </a:r>
          </a:p>
        </p:txBody>
      </p:sp>
      <p:sp>
        <p:nvSpPr>
          <p:cNvPr id="37" name="Rounded Rectangle 36"/>
          <p:cNvSpPr/>
          <p:nvPr/>
        </p:nvSpPr>
        <p:spPr>
          <a:xfrm>
            <a:off x="10479024" y="1234440"/>
            <a:ext cx="1481328" cy="1554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954512" y="1371600"/>
            <a:ext cx="502920" cy="502920"/>
          </a:xfrm>
          <a:prstGeom prst="ellipse">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954512" y="1463040"/>
            <a:ext cx="502920" cy="347472"/>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FFFFFF"/>
                </a:solidFill>
                <a:latin typeface="Arial"/>
                <a:ea typeface="Arial"/>
                <a:cs typeface="Arial"/>
              </a:rPr>
              <a:t>7</a:t>
            </a:r>
          </a:p>
        </p:txBody>
      </p:sp>
      <p:sp>
        <p:nvSpPr>
          <p:cNvPr id="40" name="TextBox 39"/>
          <p:cNvSpPr txBox="1"/>
          <p:nvPr/>
        </p:nvSpPr>
        <p:spPr>
          <a:xfrm>
            <a:off x="10552176" y="1965960"/>
            <a:ext cx="1335024" cy="64008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Sửa ≤ 2 vòng</a:t>
            </a:r>
          </a:p>
        </p:txBody>
      </p:sp>
      <p:sp>
        <p:nvSpPr>
          <p:cNvPr id="41" name="Rounded Rectangle 40"/>
          <p:cNvSpPr/>
          <p:nvPr/>
        </p:nvSpPr>
        <p:spPr>
          <a:xfrm>
            <a:off x="438912" y="3108960"/>
            <a:ext cx="3657600" cy="2240280"/>
          </a:xfrm>
          <a:prstGeom prst="roundRect">
            <a:avLst>
              <a:gd name="adj" fmla="val 10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 y="3273552"/>
            <a:ext cx="324612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Câu trả lời là đoạn trích</a:t>
            </a:r>
          </a:p>
        </p:txBody>
      </p:sp>
      <p:sp>
        <p:nvSpPr>
          <p:cNvPr id="43" name="TextBox 42"/>
          <p:cNvSpPr txBox="1"/>
          <p:nvPr/>
        </p:nvSpPr>
        <p:spPr>
          <a:xfrm>
            <a:off x="640080" y="3977639"/>
            <a:ext cx="3246120" cy="11430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Không gọi mô hình viết lại. Đo việc chọn đúng khoản và bắt số bị đổi.</a:t>
            </a:r>
          </a:p>
        </p:txBody>
      </p:sp>
      <p:sp>
        <p:nvSpPr>
          <p:cNvPr id="44" name="Rounded Rectangle 43"/>
          <p:cNvSpPr/>
          <p:nvPr/>
        </p:nvSpPr>
        <p:spPr>
          <a:xfrm>
            <a:off x="4242816" y="3108960"/>
            <a:ext cx="3657600" cy="224028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43984" y="3273552"/>
            <a:ext cx="324612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Rule số không bị phủ quyết</a:t>
            </a:r>
          </a:p>
        </p:txBody>
      </p:sp>
      <p:sp>
        <p:nvSpPr>
          <p:cNvPr id="46" name="TextBox 45"/>
          <p:cNvSpPr txBox="1"/>
          <p:nvPr/>
        </p:nvSpPr>
        <p:spPr>
          <a:xfrm>
            <a:off x="4443984" y="3977639"/>
            <a:ext cx="3246120" cy="11430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Lệch số hoặc lệch hệ quả thì bộ học được không được gán supported.</a:t>
            </a:r>
          </a:p>
        </p:txBody>
      </p:sp>
      <p:sp>
        <p:nvSpPr>
          <p:cNvPr id="47" name="Rounded Rectangle 46"/>
          <p:cNvSpPr/>
          <p:nvPr/>
        </p:nvSpPr>
        <p:spPr>
          <a:xfrm>
            <a:off x="8046720" y="3108960"/>
            <a:ext cx="3657600" cy="2240280"/>
          </a:xfrm>
          <a:prstGeom prst="roundRect">
            <a:avLst>
              <a:gd name="adj" fmla="val 10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47888" y="3273552"/>
            <a:ext cx="324612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Sửa là thay đúng khoản</a:t>
            </a:r>
          </a:p>
        </p:txBody>
      </p:sp>
      <p:sp>
        <p:nvSpPr>
          <p:cNvPr id="49" name="TextBox 48"/>
          <p:cNvSpPr txBox="1"/>
          <p:nvPr/>
        </p:nvSpPr>
        <p:spPr>
          <a:xfrm>
            <a:off x="8247888" y="3977639"/>
            <a:ext cx="3246120" cy="11430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Mệnh đề lệch được thay bằng đoạn đang đối chiếu. Tối đa hai vòng.</a:t>
            </a:r>
          </a:p>
        </p:txBody>
      </p:sp>
      <p:sp>
        <p:nvSpPr>
          <p:cNvPr id="50" name="Rectangle 49"/>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52" name="Rounded Rectangle 51"/>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ĐỒ THỊ VÀ NHÃN</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Đơn vị chấm là mệnh đề, đơn vị văn bản là khoản</a:t>
            </a:r>
          </a:p>
        </p:txBody>
      </p:sp>
      <p:sp>
        <p:nvSpPr>
          <p:cNvPr id="7" name="Rounded Rectangle 6"/>
          <p:cNvSpPr/>
          <p:nvPr/>
        </p:nvSpPr>
        <p:spPr>
          <a:xfrm>
            <a:off x="438912" y="1097280"/>
            <a:ext cx="5623560" cy="3977639"/>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261872"/>
            <a:ext cx="5212080" cy="365760"/>
          </a:xfrm>
          <a:prstGeom prst="rect">
            <a:avLst/>
          </a:prstGeom>
          <a:noFill/>
        </p:spPr>
        <p:txBody>
          <a:bodyPr wrap="square" lIns="18288" tIns="0" rIns="18288" bIns="0"/>
          <a:lstStyle/>
          <a:p>
            <a:pPr algn="l">
              <a:lnSpc>
                <a:spcPct val="100000"/>
              </a:lnSpc>
              <a:spcBef>
                <a:spcPts val="0"/>
              </a:spcBef>
              <a:spcAft>
                <a:spcPts val="200"/>
              </a:spcAft>
            </a:pPr>
            <a:r>
              <a:rPr sz="1800" b="1" i="0">
                <a:solidFill>
                  <a:srgbClr val="1C2430"/>
                </a:solidFill>
                <a:latin typeface="Arial"/>
                <a:ea typeface="Arial"/>
                <a:cs typeface="Arial"/>
              </a:rPr>
              <a:t>Đồ thị điều–khoản</a:t>
            </a:r>
          </a:p>
        </p:txBody>
      </p:sp>
      <p:sp>
        <p:nvSpPr>
          <p:cNvPr id="9" name="TextBox 8"/>
          <p:cNvSpPr txBox="1"/>
          <p:nvPr/>
        </p:nvSpPr>
        <p:spPr>
          <a:xfrm>
            <a:off x="658368" y="1737360"/>
            <a:ext cx="5212080"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1C2430"/>
                </a:solidFill>
                <a:latin typeface="Arial"/>
                <a:ea typeface="Arial"/>
                <a:cs typeface="Arial"/>
              </a:rPr>
              <a:t>Nút: Văn bản → Điều → Khoản → Điểm.
Mỗi điểm giữ đoạn gốc, để từ nút đọc lại đúng câu.</a:t>
            </a:r>
          </a:p>
        </p:txBody>
      </p:sp>
      <p:sp>
        <p:nvSpPr>
          <p:cNvPr id="10" name="TextBox 9"/>
          <p:cNvSpPr txBox="1"/>
          <p:nvPr/>
        </p:nvSpPr>
        <p:spPr>
          <a:xfrm>
            <a:off x="658368" y="2880360"/>
            <a:ext cx="5212080" cy="1051560"/>
          </a:xfrm>
          <a:prstGeom prst="rect">
            <a:avLst/>
          </a:prstGeom>
          <a:noFill/>
        </p:spPr>
        <p:txBody>
          <a:bodyPr wrap="square" lIns="18288" tIns="0" rIns="18288" bIns="0"/>
          <a:lstStyle/>
          <a:p>
            <a:pPr algn="l">
              <a:lnSpc>
                <a:spcPct val="100000"/>
              </a:lnSpc>
              <a:spcBef>
                <a:spcPts val="0"/>
              </a:spcBef>
              <a:spcAft>
                <a:spcPts val="300"/>
              </a:spcAft>
            </a:pPr>
            <a:r>
              <a:rPr sz="1500" b="1" i="0">
                <a:solidFill>
                  <a:srgbClr val="0B6E62"/>
                </a:solidFill>
                <a:latin typeface="Arial"/>
                <a:ea typeface="Arial"/>
                <a:cs typeface="Arial"/>
              </a:rPr>
              <a:t>REFERS_TO</a:t>
            </a:r>
            <a:r>
              <a:rPr sz="1500" b="0" i="0">
                <a:solidFill>
                  <a:srgbClr val="1C2430"/>
                </a:solidFill>
                <a:latin typeface="Arial"/>
                <a:ea typeface="Arial"/>
                <a:cs typeface="Arial"/>
              </a:rPr>
              <a:t>  khoản này dẫn khoản kia.</a:t>
            </a:r>
          </a:p>
          <a:p>
            <a:pPr algn="l">
              <a:lnSpc>
                <a:spcPct val="100000"/>
              </a:lnSpc>
              <a:spcBef>
                <a:spcPts val="0"/>
              </a:spcBef>
              <a:spcAft>
                <a:spcPts val="200"/>
              </a:spcAft>
            </a:pPr>
            <a:r>
              <a:rPr sz="1500" b="1" i="0">
                <a:solidFill>
                  <a:srgbClr val="0B6E62"/>
                </a:solidFill>
                <a:latin typeface="Arial"/>
                <a:ea typeface="Arial"/>
                <a:cs typeface="Arial"/>
              </a:rPr>
              <a:t>REPLACES</a:t>
            </a:r>
            <a:r>
              <a:rPr sz="1500" b="0" i="0">
                <a:solidFill>
                  <a:srgbClr val="1C2430"/>
                </a:solidFill>
                <a:latin typeface="Arial"/>
                <a:ea typeface="Arial"/>
                <a:cs typeface="Arial"/>
              </a:rPr>
              <a:t>  thông tư này thay thông tư kia.</a:t>
            </a:r>
          </a:p>
        </p:txBody>
      </p:sp>
      <p:sp>
        <p:nvSpPr>
          <p:cNvPr id="11" name="TextBox 10"/>
          <p:cNvSpPr txBox="1"/>
          <p:nvPr/>
        </p:nvSpPr>
        <p:spPr>
          <a:xfrm>
            <a:off x="658368" y="4023360"/>
            <a:ext cx="5212080" cy="822960"/>
          </a:xfrm>
          <a:prstGeom prst="rect">
            <a:avLst/>
          </a:prstGeom>
          <a:noFill/>
        </p:spPr>
        <p:txBody>
          <a:bodyPr wrap="square" lIns="18288" tIns="0" rIns="18288" bIns="0"/>
          <a:lstStyle/>
          <a:p>
            <a:pPr algn="l">
              <a:lnSpc>
                <a:spcPct val="105000"/>
              </a:lnSpc>
              <a:spcBef>
                <a:spcPts val="0"/>
              </a:spcBef>
              <a:spcAft>
                <a:spcPts val="200"/>
              </a:spcAft>
            </a:pPr>
            <a:r>
              <a:rPr sz="1300" b="0" i="0">
                <a:solidFill>
                  <a:srgbClr val="5C6B7A"/>
                </a:solidFill>
                <a:latin typeface="Arial"/>
                <a:ea typeface="Arial"/>
                <a:cs typeface="Arial"/>
              </a:rPr>
              <a:t>Toàn văn: 545 đơn vị · 125 dẫn chiếu · 2 thay thế.
23/2021 hết hiệu lực 30.06.2026. 56/2026 có hiệu lực 07.07.2026.</a:t>
            </a:r>
          </a:p>
        </p:txBody>
      </p:sp>
      <p:sp>
        <p:nvSpPr>
          <p:cNvPr id="12" name="Rounded Rectangle 11"/>
          <p:cNvSpPr/>
          <p:nvPr/>
        </p:nvSpPr>
        <p:spPr>
          <a:xfrm>
            <a:off x="6263640" y="1097280"/>
            <a:ext cx="5486400" cy="1261872"/>
          </a:xfrm>
          <a:prstGeom prst="roundRect">
            <a:avLst>
              <a:gd name="adj" fmla="val 10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207007"/>
            <a:ext cx="5074920" cy="329184"/>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0B6E62"/>
                </a:solidFill>
                <a:latin typeface="Arial"/>
                <a:ea typeface="Arial"/>
                <a:cs typeface="Arial"/>
              </a:rPr>
              <a:t>Supported</a:t>
            </a:r>
          </a:p>
        </p:txBody>
      </p:sp>
      <p:sp>
        <p:nvSpPr>
          <p:cNvPr id="14" name="TextBox 13"/>
          <p:cNvSpPr txBox="1"/>
          <p:nvPr/>
        </p:nvSpPr>
        <p:spPr>
          <a:xfrm>
            <a:off x="6473952" y="1554480"/>
            <a:ext cx="5074920" cy="685800"/>
          </a:xfrm>
          <a:prstGeom prst="rect">
            <a:avLst/>
          </a:prstGeom>
          <a:noFill/>
        </p:spPr>
        <p:txBody>
          <a:bodyPr wrap="square" lIns="18288" tIns="0" rIns="18288" bIns="0"/>
          <a:lstStyle/>
          <a:p>
            <a:pPr algn="l">
              <a:lnSpc>
                <a:spcPct val="102000"/>
              </a:lnSpc>
              <a:spcBef>
                <a:spcPts val="0"/>
              </a:spcBef>
              <a:spcAft>
                <a:spcPts val="200"/>
              </a:spcAft>
            </a:pPr>
            <a:r>
              <a:rPr sz="1300" b="0" i="0">
                <a:solidFill>
                  <a:srgbClr val="1C2430"/>
                </a:solidFill>
                <a:latin typeface="Arial"/>
                <a:ea typeface="Arial"/>
                <a:cs typeface="Arial"/>
              </a:rPr>
              <a:t>Khoản kéo theo mệnh đề. Số, ngày và điều kiện khớp nguồn.</a:t>
            </a:r>
          </a:p>
        </p:txBody>
      </p:sp>
      <p:sp>
        <p:nvSpPr>
          <p:cNvPr id="15" name="Rounded Rectangle 14"/>
          <p:cNvSpPr/>
          <p:nvPr/>
        </p:nvSpPr>
        <p:spPr>
          <a:xfrm>
            <a:off x="6263640" y="2468880"/>
            <a:ext cx="5486400" cy="1261872"/>
          </a:xfrm>
          <a:prstGeom prst="roundRect">
            <a:avLst>
              <a:gd name="adj" fmla="val 10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2578608"/>
            <a:ext cx="5074920" cy="329184"/>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E24B3C"/>
                </a:solidFill>
                <a:latin typeface="Arial"/>
                <a:ea typeface="Arial"/>
                <a:cs typeface="Arial"/>
              </a:rPr>
              <a:t>Contradicted</a:t>
            </a:r>
          </a:p>
        </p:txBody>
      </p:sp>
      <p:sp>
        <p:nvSpPr>
          <p:cNvPr id="17" name="TextBox 16"/>
          <p:cNvSpPr txBox="1"/>
          <p:nvPr/>
        </p:nvSpPr>
        <p:spPr>
          <a:xfrm>
            <a:off x="6473952" y="2926080"/>
            <a:ext cx="5074920" cy="685800"/>
          </a:xfrm>
          <a:prstGeom prst="rect">
            <a:avLst/>
          </a:prstGeom>
          <a:noFill/>
        </p:spPr>
        <p:txBody>
          <a:bodyPr wrap="square" lIns="18288" tIns="0" rIns="18288" bIns="0"/>
          <a:lstStyle/>
          <a:p>
            <a:pPr algn="l">
              <a:lnSpc>
                <a:spcPct val="102000"/>
              </a:lnSpc>
              <a:spcBef>
                <a:spcPts val="0"/>
              </a:spcBef>
              <a:spcAft>
                <a:spcPts val="200"/>
              </a:spcAft>
            </a:pPr>
            <a:r>
              <a:rPr sz="1300" b="0" i="0">
                <a:solidFill>
                  <a:srgbClr val="1C2430"/>
                </a:solidFill>
                <a:latin typeface="Arial"/>
                <a:ea typeface="Arial"/>
                <a:cs typeface="Arial"/>
              </a:rPr>
              <a:t>Nguồn nói ngược. Khác số, khác ngày, hoặc đổi hệ quả. 24 tín chỉ mà nói buộc thôi học vẫn là contradicted.</a:t>
            </a:r>
          </a:p>
        </p:txBody>
      </p:sp>
      <p:sp>
        <p:nvSpPr>
          <p:cNvPr id="18" name="Rounded Rectangle 17"/>
          <p:cNvSpPr/>
          <p:nvPr/>
        </p:nvSpPr>
        <p:spPr>
          <a:xfrm>
            <a:off x="6263640" y="3840480"/>
            <a:ext cx="5486400" cy="1261872"/>
          </a:xfrm>
          <a:prstGeom prst="roundRect">
            <a:avLst>
              <a:gd name="adj" fmla="val 10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3950208"/>
            <a:ext cx="5074920" cy="329184"/>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A16207"/>
                </a:solidFill>
                <a:latin typeface="Arial"/>
                <a:ea typeface="Arial"/>
                <a:cs typeface="Arial"/>
              </a:rPr>
              <a:t>Unsupported</a:t>
            </a:r>
          </a:p>
        </p:txBody>
      </p:sp>
      <p:sp>
        <p:nvSpPr>
          <p:cNvPr id="20" name="TextBox 19"/>
          <p:cNvSpPr txBox="1"/>
          <p:nvPr/>
        </p:nvSpPr>
        <p:spPr>
          <a:xfrm>
            <a:off x="6473952" y="4297680"/>
            <a:ext cx="5074920" cy="685800"/>
          </a:xfrm>
          <a:prstGeom prst="rect">
            <a:avLst/>
          </a:prstGeom>
          <a:noFill/>
        </p:spPr>
        <p:txBody>
          <a:bodyPr wrap="square" lIns="18288" tIns="0" rIns="18288" bIns="0"/>
          <a:lstStyle/>
          <a:p>
            <a:pPr algn="l">
              <a:lnSpc>
                <a:spcPct val="102000"/>
              </a:lnSpc>
              <a:spcBef>
                <a:spcPts val="0"/>
              </a:spcBef>
              <a:spcAft>
                <a:spcPts val="200"/>
              </a:spcAft>
            </a:pPr>
            <a:r>
              <a:rPr sz="1300" b="0" i="0">
                <a:solidFill>
                  <a:srgbClr val="1C2430"/>
                </a:solidFill>
                <a:latin typeface="Arial"/>
                <a:ea typeface="Arial"/>
                <a:cs typeface="Arial"/>
              </a:rPr>
              <a:t>Thêm điều không có trong khoản, và nguồn cũng không nói ngược.</a:t>
            </a:r>
          </a:p>
        </p:txBody>
      </p:sp>
      <p:sp>
        <p:nvSpPr>
          <p:cNvPr id="21" name="Rounded Rectangle 20"/>
          <p:cNvSpPr/>
          <p:nvPr/>
        </p:nvSpPr>
        <p:spPr>
          <a:xfrm>
            <a:off x="438912" y="5212080"/>
            <a:ext cx="11320272" cy="1097280"/>
          </a:xfrm>
          <a:prstGeom prst="roundRect">
            <a:avLst>
              <a:gd name="adj" fmla="val 1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0" tIns="73152" rIns="182880" bIns="54864" rtlCol="0" anchor="ctr"/>
          <a:lstStyle/>
          <a:p>
            <a:pPr algn="ctr">
              <a:lnSpc>
                <a:spcPct val="100000"/>
              </a:lnSpc>
              <a:spcBef>
                <a:spcPts val="0"/>
              </a:spcBef>
              <a:spcAft>
                <a:spcPts val="200"/>
              </a:spcAft>
            </a:pPr>
            <a:r>
              <a:rPr sz="2000" b="1" i="0">
                <a:solidFill>
                  <a:srgbClr val="FFFFFF"/>
                </a:solidFill>
                <a:latin typeface="Arial"/>
                <a:ea typeface="Arial"/>
                <a:cs typeface="Arial"/>
              </a:rPr>
              <a:t>GGF  =  số mệnh đề supported  /  tổng số mệnh đề</a:t>
            </a:r>
          </a:p>
          <a:p>
            <a:pPr algn="ctr">
              <a:lnSpc>
                <a:spcPct val="100000"/>
              </a:lnSpc>
              <a:spcBef>
                <a:spcPts val="0"/>
              </a:spcBef>
              <a:spcAft>
                <a:spcPts val="200"/>
              </a:spcAft>
            </a:pPr>
            <a:r>
              <a:rPr sz="1300" b="0" i="0">
                <a:solidFill>
                  <a:srgbClr val="E7FFF9"/>
                </a:solidFill>
                <a:latin typeface="Arial"/>
                <a:ea typeface="Arial"/>
                <a:cs typeface="Arial"/>
              </a:rPr>
              <a:t>Tỉ lệ contradicted báo cáo riêng. Không gộp vào một chữ “sai” chung với unsupported.</a:t>
            </a:r>
          </a:p>
        </p:txBody>
      </p:sp>
      <p:sp>
        <p:nvSpPr>
          <p:cNvPr id="22" name="Rectangle 21"/>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4" name="Rounded Rectangle 23"/>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TRUY HỒI</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Năm cổng, một chỉ mục BM25</a:t>
            </a:r>
          </a:p>
        </p:txBody>
      </p:sp>
      <p:sp>
        <p:nvSpPr>
          <p:cNvPr id="7" name="Rounded Rectangle 6"/>
          <p:cNvSpPr/>
          <p:nvPr/>
        </p:nvSpPr>
        <p:spPr>
          <a:xfrm>
            <a:off x="438912" y="1097280"/>
            <a:ext cx="11320272" cy="841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298448"/>
            <a:ext cx="2468880" cy="45720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Naive</a:t>
            </a:r>
          </a:p>
        </p:txBody>
      </p:sp>
      <p:sp>
        <p:nvSpPr>
          <p:cNvPr id="9" name="TextBox 8"/>
          <p:cNvSpPr txBox="1"/>
          <p:nvPr/>
        </p:nvSpPr>
        <p:spPr>
          <a:xfrm>
            <a:off x="3200400" y="1243584"/>
            <a:ext cx="8229600" cy="566928"/>
          </a:xfrm>
          <a:prstGeom prst="rect">
            <a:avLst/>
          </a:prstGeom>
          <a:noFill/>
        </p:spPr>
        <p:txBody>
          <a:bodyPr wrap="square" lIns="73152" tIns="0" rIns="18288" bIns="0"/>
          <a:lstStyle/>
          <a:p>
            <a:pPr algn="l">
              <a:lnSpc>
                <a:spcPct val="100000"/>
              </a:lnSpc>
              <a:spcBef>
                <a:spcPts val="0"/>
              </a:spcBef>
              <a:spcAft>
                <a:spcPts val="200"/>
              </a:spcAft>
            </a:pPr>
            <a:r>
              <a:rPr sz="1500" b="0" i="0">
                <a:solidFill>
                  <a:srgbClr val="1C2430"/>
                </a:solidFill>
                <a:latin typeface="Arial"/>
                <a:ea typeface="Arial"/>
                <a:cs typeface="Arial"/>
              </a:rPr>
              <a:t>Lấy đoạn BM25 đứng đầu.</a:t>
            </a:r>
          </a:p>
        </p:txBody>
      </p:sp>
      <p:sp>
        <p:nvSpPr>
          <p:cNvPr id="10" name="Rounded Rectangle 9"/>
          <p:cNvSpPr/>
          <p:nvPr/>
        </p:nvSpPr>
        <p:spPr>
          <a:xfrm>
            <a:off x="438912" y="2029967"/>
            <a:ext cx="11320272" cy="841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231136"/>
            <a:ext cx="2468880" cy="45720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Graph</a:t>
            </a:r>
          </a:p>
        </p:txBody>
      </p:sp>
      <p:sp>
        <p:nvSpPr>
          <p:cNvPr id="12" name="TextBox 11"/>
          <p:cNvSpPr txBox="1"/>
          <p:nvPr/>
        </p:nvSpPr>
        <p:spPr>
          <a:xfrm>
            <a:off x="3200400" y="2176272"/>
            <a:ext cx="8229600" cy="566928"/>
          </a:xfrm>
          <a:prstGeom prst="rect">
            <a:avLst/>
          </a:prstGeom>
          <a:noFill/>
        </p:spPr>
        <p:txBody>
          <a:bodyPr wrap="square" lIns="73152" tIns="0" rIns="18288" bIns="0"/>
          <a:lstStyle/>
          <a:p>
            <a:pPr algn="l">
              <a:lnSpc>
                <a:spcPct val="100000"/>
              </a:lnSpc>
              <a:spcBef>
                <a:spcPts val="0"/>
              </a:spcBef>
              <a:spcAft>
                <a:spcPts val="200"/>
              </a:spcAft>
            </a:pPr>
            <a:r>
              <a:rPr sz="1500" b="0" i="0">
                <a:solidFill>
                  <a:srgbClr val="1C2430"/>
                </a:solidFill>
                <a:latin typeface="Arial"/>
                <a:ea typeface="Arial"/>
                <a:cs typeface="Arial"/>
              </a:rPr>
              <a:t>Lấy hạt giống đó, rồi đi cạnh dẫn chiếu.</a:t>
            </a:r>
          </a:p>
        </p:txBody>
      </p:sp>
      <p:sp>
        <p:nvSpPr>
          <p:cNvPr id="13" name="Rounded Rectangle 12"/>
          <p:cNvSpPr/>
          <p:nvPr/>
        </p:nvSpPr>
        <p:spPr>
          <a:xfrm>
            <a:off x="438912" y="2962656"/>
            <a:ext cx="11320272" cy="841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163824"/>
            <a:ext cx="2468880" cy="45720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LightRAG-style</a:t>
            </a:r>
          </a:p>
        </p:txBody>
      </p:sp>
      <p:sp>
        <p:nvSpPr>
          <p:cNvPr id="15" name="TextBox 14"/>
          <p:cNvSpPr txBox="1"/>
          <p:nvPr/>
        </p:nvSpPr>
        <p:spPr>
          <a:xfrm>
            <a:off x="3200400" y="3108960"/>
            <a:ext cx="8229600" cy="566928"/>
          </a:xfrm>
          <a:prstGeom prst="rect">
            <a:avLst/>
          </a:prstGeom>
          <a:noFill/>
        </p:spPr>
        <p:txBody>
          <a:bodyPr wrap="square" lIns="73152" tIns="0" rIns="18288" bIns="0"/>
          <a:lstStyle/>
          <a:p>
            <a:pPr algn="l">
              <a:lnSpc>
                <a:spcPct val="100000"/>
              </a:lnSpc>
              <a:spcBef>
                <a:spcPts val="0"/>
              </a:spcBef>
              <a:spcAft>
                <a:spcPts val="200"/>
              </a:spcAft>
            </a:pPr>
            <a:r>
              <a:rPr sz="1500" b="0" i="0">
                <a:solidFill>
                  <a:srgbClr val="1C2430"/>
                </a:solidFill>
                <a:latin typeface="Arial"/>
                <a:ea typeface="Arial"/>
                <a:cs typeface="Arial"/>
              </a:rPr>
              <a:t>Trộn đoạn khớp nội dung với đoạn có tiêu đề điều khớp câu hỏi.</a:t>
            </a:r>
          </a:p>
        </p:txBody>
      </p:sp>
      <p:sp>
        <p:nvSpPr>
          <p:cNvPr id="16" name="Rounded Rectangle 15"/>
          <p:cNvSpPr/>
          <p:nvPr/>
        </p:nvSpPr>
        <p:spPr>
          <a:xfrm>
            <a:off x="438912" y="3895344"/>
            <a:ext cx="11320272" cy="841248"/>
          </a:xfrm>
          <a:prstGeom prst="roundRect">
            <a:avLst>
              <a:gd name="adj" fmla="val 12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096511"/>
            <a:ext cx="2468880" cy="45720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0B6E62"/>
                </a:solidFill>
                <a:latin typeface="Arial"/>
                <a:ea typeface="Arial"/>
                <a:cs typeface="Arial"/>
              </a:rPr>
              <a:t>HippoRAG-style</a:t>
            </a:r>
          </a:p>
        </p:txBody>
      </p:sp>
      <p:sp>
        <p:nvSpPr>
          <p:cNvPr id="18" name="TextBox 17"/>
          <p:cNvSpPr txBox="1"/>
          <p:nvPr/>
        </p:nvSpPr>
        <p:spPr>
          <a:xfrm>
            <a:off x="3200400" y="4041648"/>
            <a:ext cx="8229600" cy="566928"/>
          </a:xfrm>
          <a:prstGeom prst="rect">
            <a:avLst/>
          </a:prstGeom>
          <a:noFill/>
        </p:spPr>
        <p:txBody>
          <a:bodyPr wrap="square" lIns="73152" tIns="0" rIns="18288" bIns="0"/>
          <a:lstStyle/>
          <a:p>
            <a:pPr algn="l">
              <a:lnSpc>
                <a:spcPct val="100000"/>
              </a:lnSpc>
              <a:spcBef>
                <a:spcPts val="0"/>
              </a:spcBef>
              <a:spcAft>
                <a:spcPts val="200"/>
              </a:spcAft>
            </a:pPr>
            <a:r>
              <a:rPr sz="1500" b="0" i="0">
                <a:solidFill>
                  <a:srgbClr val="1C2430"/>
                </a:solidFill>
                <a:latin typeface="Arial"/>
                <a:ea typeface="Arial"/>
                <a:cs typeface="Arial"/>
              </a:rPr>
              <a:t>Ba hạt giống, cộng điểm cho hàng xóm và đoạn cùng điều. Lan một lớp cạnh.</a:t>
            </a:r>
          </a:p>
        </p:txBody>
      </p:sp>
      <p:sp>
        <p:nvSpPr>
          <p:cNvPr id="19" name="Rounded Rectangle 18"/>
          <p:cNvSpPr/>
          <p:nvPr/>
        </p:nvSpPr>
        <p:spPr>
          <a:xfrm>
            <a:off x="438912" y="4828031"/>
            <a:ext cx="11320272" cy="84124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5029199"/>
            <a:ext cx="2468880" cy="45720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KAG-style</a:t>
            </a:r>
          </a:p>
        </p:txBody>
      </p:sp>
      <p:sp>
        <p:nvSpPr>
          <p:cNvPr id="21" name="TextBox 20"/>
          <p:cNvSpPr txBox="1"/>
          <p:nvPr/>
        </p:nvSpPr>
        <p:spPr>
          <a:xfrm>
            <a:off x="3200400" y="4974336"/>
            <a:ext cx="8229600" cy="566928"/>
          </a:xfrm>
          <a:prstGeom prst="rect">
            <a:avLst/>
          </a:prstGeom>
          <a:noFill/>
        </p:spPr>
        <p:txBody>
          <a:bodyPr wrap="square" lIns="73152" tIns="0" rIns="18288" bIns="0"/>
          <a:lstStyle/>
          <a:p>
            <a:pPr algn="l">
              <a:lnSpc>
                <a:spcPct val="100000"/>
              </a:lnSpc>
              <a:spcBef>
                <a:spcPts val="0"/>
              </a:spcBef>
              <a:spcAft>
                <a:spcPts val="200"/>
              </a:spcAft>
            </a:pPr>
            <a:r>
              <a:rPr sz="1500" b="0" i="0">
                <a:solidFill>
                  <a:srgbClr val="1C2430"/>
                </a:solidFill>
                <a:latin typeface="Arial"/>
                <a:ea typeface="Arial"/>
                <a:cs typeface="Arial"/>
              </a:rPr>
              <a:t>Ưu tiên đoạn nói hiệu lực hoặc điều cấm khi câu hỏi hỏi việc đó, rồi mới BM25.</a:t>
            </a:r>
          </a:p>
        </p:txBody>
      </p:sp>
      <p:sp>
        <p:nvSpPr>
          <p:cNvPr id="22" name="Rectangle 21"/>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4" name="Rounded Rectangle 23"/>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DỮ LIỆU</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Ba tầng dữ liệu, không trộn khi đọc số</a:t>
            </a:r>
          </a:p>
        </p:txBody>
      </p:sp>
      <p:sp>
        <p:nvSpPr>
          <p:cNvPr id="7" name="Rounded Rectangle 6"/>
          <p:cNvSpPr/>
          <p:nvPr/>
        </p:nvSpPr>
        <p:spPr>
          <a:xfrm>
            <a:off x="438912" y="1115568"/>
            <a:ext cx="3657600" cy="2880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3246120" cy="77724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0E9A86"/>
                </a:solidFill>
                <a:latin typeface="Arial"/>
                <a:ea typeface="Arial"/>
                <a:cs typeface="Arial"/>
              </a:rPr>
              <a:t>545</a:t>
            </a:r>
          </a:p>
        </p:txBody>
      </p:sp>
      <p:sp>
        <p:nvSpPr>
          <p:cNvPr id="9" name="TextBox 8"/>
          <p:cNvSpPr txBox="1"/>
          <p:nvPr/>
        </p:nvSpPr>
        <p:spPr>
          <a:xfrm>
            <a:off x="640080" y="2057400"/>
            <a:ext cx="324612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khoản hoặc điểm</a:t>
            </a:r>
          </a:p>
        </p:txBody>
      </p:sp>
      <p:sp>
        <p:nvSpPr>
          <p:cNvPr id="10" name="TextBox 9"/>
          <p:cNvSpPr txBox="1"/>
          <p:nvPr/>
        </p:nvSpPr>
        <p:spPr>
          <a:xfrm>
            <a:off x="640080" y="2560320"/>
            <a:ext cx="3246120" cy="118872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Đồ thị toàn văn ba thông tư.
125 cạnh dẫn chiếu, 2 cạnh thay thế.</a:t>
            </a:r>
          </a:p>
        </p:txBody>
      </p:sp>
      <p:sp>
        <p:nvSpPr>
          <p:cNvPr id="11" name="Rounded Rectangle 10"/>
          <p:cNvSpPr/>
          <p:nvPr/>
        </p:nvSpPr>
        <p:spPr>
          <a:xfrm>
            <a:off x="4242816" y="1115568"/>
            <a:ext cx="3657600" cy="2880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3984" y="1280160"/>
            <a:ext cx="3246120" cy="77724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3D7EFF"/>
                </a:solidFill>
                <a:latin typeface="Arial"/>
                <a:ea typeface="Arial"/>
                <a:cs typeface="Arial"/>
              </a:rPr>
              <a:t>150</a:t>
            </a:r>
          </a:p>
        </p:txBody>
      </p:sp>
      <p:sp>
        <p:nvSpPr>
          <p:cNvPr id="13" name="TextBox 12"/>
          <p:cNvSpPr txBox="1"/>
          <p:nvPr/>
        </p:nvSpPr>
        <p:spPr>
          <a:xfrm>
            <a:off x="4443984" y="2057400"/>
            <a:ext cx="324612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câu đã đối chiếu</a:t>
            </a:r>
          </a:p>
        </p:txBody>
      </p:sp>
      <p:sp>
        <p:nvSpPr>
          <p:cNvPr id="14" name="TextBox 13"/>
          <p:cNvSpPr txBox="1"/>
          <p:nvPr/>
        </p:nvSpPr>
        <p:spPr>
          <a:xfrm>
            <a:off x="4443984" y="2560320"/>
            <a:ext cx="3246120" cy="118872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ViEduReg trên 56/2026.
90 câu một khoản, 60 câu nhiều khoản.</a:t>
            </a:r>
          </a:p>
        </p:txBody>
      </p:sp>
      <p:sp>
        <p:nvSpPr>
          <p:cNvPr id="15" name="Rounded Rectangle 14"/>
          <p:cNvSpPr/>
          <p:nvPr/>
        </p:nvSpPr>
        <p:spPr>
          <a:xfrm>
            <a:off x="8046720" y="1115568"/>
            <a:ext cx="3657600" cy="2880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280160"/>
            <a:ext cx="3246120" cy="77724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FF6B57"/>
                </a:solidFill>
                <a:latin typeface="Arial"/>
                <a:ea typeface="Arial"/>
                <a:cs typeface="Arial"/>
              </a:rPr>
              <a:t>14</a:t>
            </a:r>
          </a:p>
        </p:txBody>
      </p:sp>
      <p:sp>
        <p:nvSpPr>
          <p:cNvPr id="17" name="TextBox 16"/>
          <p:cNvSpPr txBox="1"/>
          <p:nvPr/>
        </p:nvSpPr>
        <p:spPr>
          <a:xfrm>
            <a:off x="8247888" y="2057400"/>
            <a:ext cx="324612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mệnh đề người</a:t>
            </a:r>
          </a:p>
        </p:txBody>
      </p:sp>
      <p:sp>
        <p:nvSpPr>
          <p:cNvPr id="18" name="TextBox 17"/>
          <p:cNvSpPr txBox="1"/>
          <p:nvPr/>
        </p:nvSpPr>
        <p:spPr>
          <a:xfrm>
            <a:off x="8247888" y="2560320"/>
            <a:ext cx="3246120" cy="118872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Test trên trích Thông tư 08.
Đủ để kiểm lỗi guideline, chưa đủ để suy tương quan.</a:t>
            </a:r>
          </a:p>
        </p:txBody>
      </p:sp>
      <p:sp>
        <p:nvSpPr>
          <p:cNvPr id="19" name="Rounded Rectangle 18"/>
          <p:cNvSpPr/>
          <p:nvPr/>
        </p:nvSpPr>
        <p:spPr>
          <a:xfrm>
            <a:off x="438912" y="4160520"/>
            <a:ext cx="11320272" cy="2103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 y="4315968"/>
            <a:ext cx="731520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127 mệnh đề không trùng, một lượt đối chiếu</a:t>
            </a:r>
          </a:p>
        </p:txBody>
      </p:sp>
      <p:sp>
        <p:nvSpPr>
          <p:cNvPr id="21" name="Rounded Rectangle 20"/>
          <p:cNvSpPr/>
          <p:nvPr/>
        </p:nvSpPr>
        <p:spPr>
          <a:xfrm>
            <a:off x="676656" y="4800600"/>
            <a:ext cx="2286000" cy="1143000"/>
          </a:xfrm>
          <a:prstGeom prst="roundRect">
            <a:avLst>
              <a:gd name="adj" fmla="val 12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 y="4892040"/>
            <a:ext cx="2011680" cy="502920"/>
          </a:xfrm>
          <a:prstGeom prst="rect">
            <a:avLst/>
          </a:prstGeom>
          <a:noFill/>
        </p:spPr>
        <p:txBody>
          <a:bodyPr wrap="square" lIns="18288" tIns="0" rIns="18288" bIns="0"/>
          <a:lstStyle/>
          <a:p>
            <a:pPr algn="ctr">
              <a:lnSpc>
                <a:spcPct val="100000"/>
              </a:lnSpc>
              <a:spcBef>
                <a:spcPts val="0"/>
              </a:spcBef>
              <a:spcAft>
                <a:spcPts val="200"/>
              </a:spcAft>
            </a:pPr>
            <a:r>
              <a:rPr sz="2600" b="1" i="0">
                <a:solidFill>
                  <a:srgbClr val="0B6E62"/>
                </a:solidFill>
                <a:latin typeface="Arial"/>
                <a:ea typeface="Arial"/>
                <a:cs typeface="Arial"/>
              </a:rPr>
              <a:t>72</a:t>
            </a:r>
          </a:p>
        </p:txBody>
      </p:sp>
      <p:sp>
        <p:nvSpPr>
          <p:cNvPr id="23" name="TextBox 22"/>
          <p:cNvSpPr txBox="1"/>
          <p:nvPr/>
        </p:nvSpPr>
        <p:spPr>
          <a:xfrm>
            <a:off x="813816" y="5394960"/>
            <a:ext cx="2011680" cy="36576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supported</a:t>
            </a:r>
          </a:p>
        </p:txBody>
      </p:sp>
      <p:sp>
        <p:nvSpPr>
          <p:cNvPr id="24" name="Rounded Rectangle 23"/>
          <p:cNvSpPr/>
          <p:nvPr/>
        </p:nvSpPr>
        <p:spPr>
          <a:xfrm>
            <a:off x="3145536" y="4800600"/>
            <a:ext cx="2286000" cy="1143000"/>
          </a:xfrm>
          <a:prstGeom prst="roundRect">
            <a:avLst>
              <a:gd name="adj" fmla="val 12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82696" y="4892040"/>
            <a:ext cx="2011680" cy="502920"/>
          </a:xfrm>
          <a:prstGeom prst="rect">
            <a:avLst/>
          </a:prstGeom>
          <a:noFill/>
        </p:spPr>
        <p:txBody>
          <a:bodyPr wrap="square" lIns="18288" tIns="0" rIns="18288" bIns="0"/>
          <a:lstStyle/>
          <a:p>
            <a:pPr algn="ctr">
              <a:lnSpc>
                <a:spcPct val="100000"/>
              </a:lnSpc>
              <a:spcBef>
                <a:spcPts val="0"/>
              </a:spcBef>
              <a:spcAft>
                <a:spcPts val="200"/>
              </a:spcAft>
            </a:pPr>
            <a:r>
              <a:rPr sz="2600" b="1" i="0">
                <a:solidFill>
                  <a:srgbClr val="E24B3C"/>
                </a:solidFill>
                <a:latin typeface="Arial"/>
                <a:ea typeface="Arial"/>
                <a:cs typeface="Arial"/>
              </a:rPr>
              <a:t>26</a:t>
            </a:r>
          </a:p>
        </p:txBody>
      </p:sp>
      <p:sp>
        <p:nvSpPr>
          <p:cNvPr id="26" name="TextBox 25"/>
          <p:cNvSpPr txBox="1"/>
          <p:nvPr/>
        </p:nvSpPr>
        <p:spPr>
          <a:xfrm>
            <a:off x="3282696" y="5394960"/>
            <a:ext cx="2011680" cy="36576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contradicted</a:t>
            </a:r>
          </a:p>
        </p:txBody>
      </p:sp>
      <p:sp>
        <p:nvSpPr>
          <p:cNvPr id="27" name="Rounded Rectangle 26"/>
          <p:cNvSpPr/>
          <p:nvPr/>
        </p:nvSpPr>
        <p:spPr>
          <a:xfrm>
            <a:off x="5614416" y="4800600"/>
            <a:ext cx="2286000" cy="1143000"/>
          </a:xfrm>
          <a:prstGeom prst="roundRect">
            <a:avLst>
              <a:gd name="adj" fmla="val 12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51576" y="4892040"/>
            <a:ext cx="2011680" cy="502920"/>
          </a:xfrm>
          <a:prstGeom prst="rect">
            <a:avLst/>
          </a:prstGeom>
          <a:noFill/>
        </p:spPr>
        <p:txBody>
          <a:bodyPr wrap="square" lIns="18288" tIns="0" rIns="18288" bIns="0"/>
          <a:lstStyle/>
          <a:p>
            <a:pPr algn="ctr">
              <a:lnSpc>
                <a:spcPct val="100000"/>
              </a:lnSpc>
              <a:spcBef>
                <a:spcPts val="0"/>
              </a:spcBef>
              <a:spcAft>
                <a:spcPts val="200"/>
              </a:spcAft>
            </a:pPr>
            <a:r>
              <a:rPr sz="2600" b="1" i="0">
                <a:solidFill>
                  <a:srgbClr val="A16207"/>
                </a:solidFill>
                <a:latin typeface="Arial"/>
                <a:ea typeface="Arial"/>
                <a:cs typeface="Arial"/>
              </a:rPr>
              <a:t>29</a:t>
            </a:r>
          </a:p>
        </p:txBody>
      </p:sp>
      <p:sp>
        <p:nvSpPr>
          <p:cNvPr id="29" name="TextBox 28"/>
          <p:cNvSpPr txBox="1"/>
          <p:nvPr/>
        </p:nvSpPr>
        <p:spPr>
          <a:xfrm>
            <a:off x="5751576" y="5394960"/>
            <a:ext cx="2011680" cy="365760"/>
          </a:xfrm>
          <a:prstGeom prst="rect">
            <a:avLst/>
          </a:prstGeom>
          <a:noFill/>
        </p:spPr>
        <p:txBody>
          <a:bodyPr wrap="square" lIns="18288" tIns="0" rIns="18288" bIns="0"/>
          <a:lstStyle/>
          <a:p>
            <a:pPr algn="ctr">
              <a:lnSpc>
                <a:spcPct val="100000"/>
              </a:lnSpc>
              <a:spcBef>
                <a:spcPts val="0"/>
              </a:spcBef>
              <a:spcAft>
                <a:spcPts val="200"/>
              </a:spcAft>
            </a:pPr>
            <a:r>
              <a:rPr sz="1300" b="1" i="0">
                <a:solidFill>
                  <a:srgbClr val="1C2430"/>
                </a:solidFill>
                <a:latin typeface="Arial"/>
                <a:ea typeface="Arial"/>
                <a:cs typeface="Arial"/>
              </a:rPr>
              <a:t>unsupported</a:t>
            </a:r>
          </a:p>
        </p:txBody>
      </p:sp>
      <p:sp>
        <p:nvSpPr>
          <p:cNvPr id="30" name="TextBox 29"/>
          <p:cNvSpPr txBox="1"/>
          <p:nvPr/>
        </p:nvSpPr>
        <p:spPr>
          <a:xfrm>
            <a:off x="8138160" y="4754880"/>
            <a:ext cx="3383280" cy="12344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Chưa có người thứ hai,
nên chưa có kappa.
Nhãn này không phải macro-F1 ở các slide sau.</a:t>
            </a:r>
          </a:p>
        </p:txBody>
      </p:sp>
      <p:sp>
        <p:nvSpPr>
          <p:cNvPr id="31" name="Rectangle 30"/>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33" name="Rounded Rectangle 32"/>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KẾT QUẢ TRUY HỒI</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Tìm được khoản chưa có nghĩa đã đưa vào câu</a:t>
            </a:r>
          </a:p>
        </p:txBody>
      </p:sp>
      <p:sp>
        <p:nvSpPr>
          <p:cNvPr id="7" name="TextBox 6"/>
          <p:cNvSpPr txBox="1"/>
          <p:nvPr/>
        </p:nvSpPr>
        <p:spPr>
          <a:xfrm>
            <a:off x="457200" y="987552"/>
            <a:ext cx="7498079" cy="256032"/>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150 câu ViEduReg. Thanh đậm: Recall pool. Thanh nhạt: Recall câu trả lời.</a:t>
            </a:r>
          </a:p>
        </p:txBody>
      </p:sp>
      <p:sp>
        <p:nvSpPr>
          <p:cNvPr id="8" name="TextBox 7"/>
          <p:cNvSpPr txBox="1"/>
          <p:nvPr/>
        </p:nvSpPr>
        <p:spPr>
          <a:xfrm>
            <a:off x="457200" y="1298448"/>
            <a:ext cx="1965960" cy="676656"/>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Naive</a:t>
            </a:r>
          </a:p>
        </p:txBody>
      </p:sp>
      <p:sp>
        <p:nvSpPr>
          <p:cNvPr id="9" name="Rounded Rectangle 8"/>
          <p:cNvSpPr/>
          <p:nvPr/>
        </p:nvSpPr>
        <p:spPr>
          <a:xfrm>
            <a:off x="2468880" y="1353312"/>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468880" y="1353312"/>
            <a:ext cx="1830628" cy="237744"/>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468880" y="1664207"/>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468880" y="1664207"/>
            <a:ext cx="832104" cy="237744"/>
          </a:xfrm>
          <a:prstGeom prst="roundRect">
            <a:avLst>
              <a:gd name="adj" fmla="val 50000"/>
            </a:avLst>
          </a:prstGeom>
          <a:solidFill>
            <a:srgbClr val="FFB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20840" y="1298448"/>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B6E62"/>
                </a:solidFill>
                <a:latin typeface="Arial"/>
                <a:ea typeface="Arial"/>
                <a:cs typeface="Arial"/>
              </a:rPr>
              <a:t>0,440</a:t>
            </a:r>
          </a:p>
        </p:txBody>
      </p:sp>
      <p:sp>
        <p:nvSpPr>
          <p:cNvPr id="14" name="TextBox 13"/>
          <p:cNvSpPr txBox="1"/>
          <p:nvPr/>
        </p:nvSpPr>
        <p:spPr>
          <a:xfrm>
            <a:off x="6720840" y="1609344"/>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E24B3C"/>
                </a:solidFill>
                <a:latin typeface="Arial"/>
                <a:ea typeface="Arial"/>
                <a:cs typeface="Arial"/>
              </a:rPr>
              <a:t>0,200</a:t>
            </a:r>
          </a:p>
        </p:txBody>
      </p:sp>
      <p:sp>
        <p:nvSpPr>
          <p:cNvPr id="15" name="TextBox 14"/>
          <p:cNvSpPr txBox="1"/>
          <p:nvPr/>
        </p:nvSpPr>
        <p:spPr>
          <a:xfrm>
            <a:off x="457200" y="2103120"/>
            <a:ext cx="1965960" cy="676656"/>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Graph</a:t>
            </a:r>
          </a:p>
        </p:txBody>
      </p:sp>
      <p:sp>
        <p:nvSpPr>
          <p:cNvPr id="16" name="Rounded Rectangle 15"/>
          <p:cNvSpPr/>
          <p:nvPr/>
        </p:nvSpPr>
        <p:spPr>
          <a:xfrm>
            <a:off x="2468880" y="2157984"/>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468880" y="2157984"/>
            <a:ext cx="1664208" cy="237744"/>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68880" y="2468879"/>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468880" y="2468879"/>
            <a:ext cx="1069253" cy="237744"/>
          </a:xfrm>
          <a:prstGeom prst="roundRect">
            <a:avLst>
              <a:gd name="adj" fmla="val 50000"/>
            </a:avLst>
          </a:prstGeom>
          <a:solidFill>
            <a:srgbClr val="FFB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20840" y="2103120"/>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B6E62"/>
                </a:solidFill>
                <a:latin typeface="Arial"/>
                <a:ea typeface="Arial"/>
                <a:cs typeface="Arial"/>
              </a:rPr>
              <a:t>0,400</a:t>
            </a:r>
          </a:p>
        </p:txBody>
      </p:sp>
      <p:sp>
        <p:nvSpPr>
          <p:cNvPr id="21" name="TextBox 20"/>
          <p:cNvSpPr txBox="1"/>
          <p:nvPr/>
        </p:nvSpPr>
        <p:spPr>
          <a:xfrm>
            <a:off x="6720840" y="2414015"/>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E24B3C"/>
                </a:solidFill>
                <a:latin typeface="Arial"/>
                <a:ea typeface="Arial"/>
                <a:cs typeface="Arial"/>
              </a:rPr>
              <a:t>0,257</a:t>
            </a:r>
          </a:p>
        </p:txBody>
      </p:sp>
      <p:sp>
        <p:nvSpPr>
          <p:cNvPr id="22" name="TextBox 21"/>
          <p:cNvSpPr txBox="1"/>
          <p:nvPr/>
        </p:nvSpPr>
        <p:spPr>
          <a:xfrm>
            <a:off x="457200" y="2907791"/>
            <a:ext cx="1965960" cy="676656"/>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LightRAG-style</a:t>
            </a:r>
          </a:p>
        </p:txBody>
      </p:sp>
      <p:sp>
        <p:nvSpPr>
          <p:cNvPr id="23" name="Rounded Rectangle 22"/>
          <p:cNvSpPr/>
          <p:nvPr/>
        </p:nvSpPr>
        <p:spPr>
          <a:xfrm>
            <a:off x="2468880" y="2962656"/>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468880" y="2962656"/>
            <a:ext cx="1718294" cy="237744"/>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2468880" y="3273551"/>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468880" y="3273551"/>
            <a:ext cx="1081735" cy="237744"/>
          </a:xfrm>
          <a:prstGeom prst="roundRect">
            <a:avLst>
              <a:gd name="adj" fmla="val 50000"/>
            </a:avLst>
          </a:prstGeom>
          <a:solidFill>
            <a:srgbClr val="FFB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0840" y="2907791"/>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B6E62"/>
                </a:solidFill>
                <a:latin typeface="Arial"/>
                <a:ea typeface="Arial"/>
                <a:cs typeface="Arial"/>
              </a:rPr>
              <a:t>0,413</a:t>
            </a:r>
          </a:p>
        </p:txBody>
      </p:sp>
      <p:sp>
        <p:nvSpPr>
          <p:cNvPr id="28" name="TextBox 27"/>
          <p:cNvSpPr txBox="1"/>
          <p:nvPr/>
        </p:nvSpPr>
        <p:spPr>
          <a:xfrm>
            <a:off x="6720840" y="3218687"/>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E24B3C"/>
                </a:solidFill>
                <a:latin typeface="Arial"/>
                <a:ea typeface="Arial"/>
                <a:cs typeface="Arial"/>
              </a:rPr>
              <a:t>0,260</a:t>
            </a:r>
          </a:p>
        </p:txBody>
      </p:sp>
      <p:sp>
        <p:nvSpPr>
          <p:cNvPr id="29" name="Rounded Rectangle 28"/>
          <p:cNvSpPr/>
          <p:nvPr/>
        </p:nvSpPr>
        <p:spPr>
          <a:xfrm>
            <a:off x="384048" y="3675887"/>
            <a:ext cx="7635240" cy="768096"/>
          </a:xfrm>
          <a:prstGeom prst="roundRect">
            <a:avLst>
              <a:gd name="adj" fmla="val 10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3712463"/>
            <a:ext cx="1965960" cy="676656"/>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0B6E62"/>
                </a:solidFill>
                <a:latin typeface="Arial"/>
                <a:ea typeface="Arial"/>
                <a:cs typeface="Arial"/>
              </a:rPr>
              <a:t>HippoRAG-style</a:t>
            </a:r>
          </a:p>
        </p:txBody>
      </p:sp>
      <p:sp>
        <p:nvSpPr>
          <p:cNvPr id="31" name="Rounded Rectangle 30"/>
          <p:cNvSpPr/>
          <p:nvPr/>
        </p:nvSpPr>
        <p:spPr>
          <a:xfrm>
            <a:off x="2468880" y="3767327"/>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2468880" y="3767327"/>
            <a:ext cx="2633609" cy="237744"/>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2468880" y="4078224"/>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2468880" y="4078224"/>
            <a:ext cx="1123340" cy="237744"/>
          </a:xfrm>
          <a:prstGeom prst="roundRect">
            <a:avLst>
              <a:gd name="adj" fmla="val 50000"/>
            </a:avLst>
          </a:prstGeom>
          <a:solidFill>
            <a:srgbClr val="FFB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20840" y="3712463"/>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B6E62"/>
                </a:solidFill>
                <a:latin typeface="Arial"/>
                <a:ea typeface="Arial"/>
                <a:cs typeface="Arial"/>
              </a:rPr>
              <a:t>0,633</a:t>
            </a:r>
          </a:p>
        </p:txBody>
      </p:sp>
      <p:sp>
        <p:nvSpPr>
          <p:cNvPr id="36" name="TextBox 35"/>
          <p:cNvSpPr txBox="1"/>
          <p:nvPr/>
        </p:nvSpPr>
        <p:spPr>
          <a:xfrm>
            <a:off x="6720840" y="4023359"/>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E24B3C"/>
                </a:solidFill>
                <a:latin typeface="Arial"/>
                <a:ea typeface="Arial"/>
                <a:cs typeface="Arial"/>
              </a:rPr>
              <a:t>0,270</a:t>
            </a:r>
          </a:p>
        </p:txBody>
      </p:sp>
      <p:sp>
        <p:nvSpPr>
          <p:cNvPr id="37" name="TextBox 36"/>
          <p:cNvSpPr txBox="1"/>
          <p:nvPr/>
        </p:nvSpPr>
        <p:spPr>
          <a:xfrm>
            <a:off x="457200" y="4517136"/>
            <a:ext cx="1965960" cy="676656"/>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KAG-style</a:t>
            </a:r>
          </a:p>
        </p:txBody>
      </p:sp>
      <p:sp>
        <p:nvSpPr>
          <p:cNvPr id="38" name="Rounded Rectangle 37"/>
          <p:cNvSpPr/>
          <p:nvPr/>
        </p:nvSpPr>
        <p:spPr>
          <a:xfrm>
            <a:off x="2468880" y="4571999"/>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2468880" y="4571999"/>
            <a:ext cx="1913839" cy="237744"/>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2468880" y="4882896"/>
            <a:ext cx="4160520" cy="237744"/>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2468880" y="4882896"/>
            <a:ext cx="886190" cy="237744"/>
          </a:xfrm>
          <a:prstGeom prst="roundRect">
            <a:avLst>
              <a:gd name="adj" fmla="val 50000"/>
            </a:avLst>
          </a:prstGeom>
          <a:solidFill>
            <a:srgbClr val="FFB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20840" y="4517136"/>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B6E62"/>
                </a:solidFill>
                <a:latin typeface="Arial"/>
                <a:ea typeface="Arial"/>
                <a:cs typeface="Arial"/>
              </a:rPr>
              <a:t>0,460</a:t>
            </a:r>
          </a:p>
        </p:txBody>
      </p:sp>
      <p:sp>
        <p:nvSpPr>
          <p:cNvPr id="43" name="TextBox 42"/>
          <p:cNvSpPr txBox="1"/>
          <p:nvPr/>
        </p:nvSpPr>
        <p:spPr>
          <a:xfrm>
            <a:off x="6720840" y="4828031"/>
            <a:ext cx="1188720" cy="310896"/>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E24B3C"/>
                </a:solidFill>
                <a:latin typeface="Arial"/>
                <a:ea typeface="Arial"/>
                <a:cs typeface="Arial"/>
              </a:rPr>
              <a:t>0,213</a:t>
            </a:r>
          </a:p>
        </p:txBody>
      </p:sp>
      <p:sp>
        <p:nvSpPr>
          <p:cNvPr id="44" name="Rounded Rectangle 43"/>
          <p:cNvSpPr/>
          <p:nvPr/>
        </p:nvSpPr>
        <p:spPr>
          <a:xfrm>
            <a:off x="8183879" y="1298448"/>
            <a:ext cx="3566160" cy="39136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366760" y="1426464"/>
            <a:ext cx="320040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Đọc hai thanh</a:t>
            </a:r>
          </a:p>
        </p:txBody>
      </p:sp>
      <p:sp>
        <p:nvSpPr>
          <p:cNvPr id="46" name="TextBox 45"/>
          <p:cNvSpPr txBox="1"/>
          <p:nvPr/>
        </p:nvSpPr>
        <p:spPr>
          <a:xfrm>
            <a:off x="8366760" y="1901952"/>
            <a:ext cx="3200400" cy="3108960"/>
          </a:xfrm>
          <a:prstGeom prst="rect">
            <a:avLst/>
          </a:prstGeom>
          <a:noFill/>
        </p:spPr>
        <p:txBody>
          <a:bodyPr wrap="square" lIns="18288" tIns="0" rIns="18288" bIns="0"/>
          <a:lstStyle/>
          <a:p>
            <a:pPr algn="l">
              <a:lnSpc>
                <a:spcPct val="102000"/>
              </a:lnSpc>
              <a:spcBef>
                <a:spcPts val="0"/>
              </a:spcBef>
              <a:spcAft>
                <a:spcPts val="600"/>
              </a:spcAft>
            </a:pPr>
            <a:r>
              <a:rPr sz="1400" b="0" i="0">
                <a:solidFill>
                  <a:srgbClr val="1C2430"/>
                </a:solidFill>
                <a:latin typeface="Arial"/>
                <a:ea typeface="Arial"/>
                <a:cs typeface="Arial"/>
              </a:rPr>
              <a:t>Pool HippoRAG-style đạt 0,633.</a:t>
            </a:r>
          </a:p>
          <a:p>
            <a:pPr algn="l">
              <a:lnSpc>
                <a:spcPct val="102000"/>
              </a:lnSpc>
              <a:spcBef>
                <a:spcPts val="0"/>
              </a:spcBef>
              <a:spcAft>
                <a:spcPts val="600"/>
              </a:spcAft>
            </a:pPr>
            <a:r>
              <a:rPr sz="1400" b="0" i="0">
                <a:solidFill>
                  <a:srgbClr val="1C2430"/>
                </a:solidFill>
                <a:latin typeface="Arial"/>
                <a:ea typeface="Arial"/>
                <a:cs typeface="Arial"/>
              </a:rPr>
              <a:t>Câu trả lời của mọi hệ chỉ khoảng 0,20 đến 0,27.</a:t>
            </a:r>
          </a:p>
          <a:p>
            <a:pPr algn="l">
              <a:lnSpc>
                <a:spcPct val="102000"/>
              </a:lnSpc>
              <a:spcBef>
                <a:spcPts val="0"/>
              </a:spcBef>
              <a:spcAft>
                <a:spcPts val="600"/>
              </a:spcAft>
            </a:pPr>
            <a:r>
              <a:rPr sz="1400" b="0" i="0">
                <a:solidFill>
                  <a:srgbClr val="1C2430"/>
                </a:solidFill>
                <a:latin typeface="Arial"/>
                <a:ea typeface="Arial"/>
                <a:cs typeface="Arial"/>
              </a:rPr>
              <a:t>Câu hai bước: pool gần đủ, 0,78–0,98. Câu trả lời chỉ khoảng 0,45–0,60.</a:t>
            </a:r>
          </a:p>
          <a:p>
            <a:pPr algn="l">
              <a:lnSpc>
                <a:spcPct val="102000"/>
              </a:lnSpc>
              <a:spcBef>
                <a:spcPts val="0"/>
              </a:spcBef>
              <a:spcAft>
                <a:spcPts val="200"/>
              </a:spcAft>
            </a:pPr>
            <a:r>
              <a:rPr sz="1400" b="1" i="0">
                <a:solidFill>
                  <a:srgbClr val="0B6E62"/>
                </a:solidFill>
                <a:latin typeface="Arial"/>
                <a:ea typeface="Arial"/>
                <a:cs typeface="Arial"/>
              </a:rPr>
              <a:t>Verifier phải nhìn pool, không chỉ nhìn câu đã ghép.</a:t>
            </a:r>
          </a:p>
        </p:txBody>
      </p:sp>
      <p:sp>
        <p:nvSpPr>
          <p:cNvPr id="47" name="Rounded Rectangle 46"/>
          <p:cNvSpPr/>
          <p:nvPr/>
        </p:nvSpPr>
        <p:spPr>
          <a:xfrm>
            <a:off x="438912" y="5376672"/>
            <a:ext cx="3675887" cy="9875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66928" y="5468112"/>
            <a:ext cx="1051560" cy="786384"/>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B6E62"/>
                </a:solidFill>
                <a:latin typeface="Arial"/>
                <a:ea typeface="Arial"/>
                <a:cs typeface="Arial"/>
              </a:rPr>
              <a:t>0,563</a:t>
            </a:r>
          </a:p>
        </p:txBody>
      </p:sp>
      <p:sp>
        <p:nvSpPr>
          <p:cNvPr id="49" name="TextBox 48"/>
          <p:cNvSpPr txBox="1"/>
          <p:nvPr/>
        </p:nvSpPr>
        <p:spPr>
          <a:xfrm>
            <a:off x="1627632" y="5504688"/>
            <a:ext cx="2331720" cy="7315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HippoRAG-style, Recall@5 trên 63 câu toàn văn</a:t>
            </a:r>
          </a:p>
        </p:txBody>
      </p:sp>
      <p:sp>
        <p:nvSpPr>
          <p:cNvPr id="50" name="Rounded Rectangle 49"/>
          <p:cNvSpPr/>
          <p:nvPr/>
        </p:nvSpPr>
        <p:spPr>
          <a:xfrm>
            <a:off x="4242816" y="5376672"/>
            <a:ext cx="3675887" cy="9875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70832" y="5468112"/>
            <a:ext cx="1051560" cy="786384"/>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B6E62"/>
                </a:solidFill>
                <a:latin typeface="Arial"/>
                <a:ea typeface="Arial"/>
                <a:cs typeface="Arial"/>
              </a:rPr>
              <a:t>0,421</a:t>
            </a:r>
          </a:p>
        </p:txBody>
      </p:sp>
      <p:sp>
        <p:nvSpPr>
          <p:cNvPr id="52" name="TextBox 51"/>
          <p:cNvSpPr txBox="1"/>
          <p:nvPr/>
        </p:nvSpPr>
        <p:spPr>
          <a:xfrm>
            <a:off x="5431536" y="5504688"/>
            <a:ext cx="2331720" cy="7315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Naive, Recall@5 trên cùng 63 câu</a:t>
            </a:r>
          </a:p>
        </p:txBody>
      </p:sp>
      <p:sp>
        <p:nvSpPr>
          <p:cNvPr id="53" name="Rounded Rectangle 52"/>
          <p:cNvSpPr/>
          <p:nvPr/>
        </p:nvSpPr>
        <p:spPr>
          <a:xfrm>
            <a:off x="8046720" y="5376672"/>
            <a:ext cx="3675887" cy="9875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74736" y="5468112"/>
            <a:ext cx="1051560" cy="786384"/>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0B6E62"/>
                </a:solidFill>
                <a:latin typeface="Arial"/>
                <a:ea typeface="Arial"/>
                <a:cs typeface="Arial"/>
              </a:rPr>
              <a:t>0,625</a:t>
            </a:r>
          </a:p>
        </p:txBody>
      </p:sp>
      <p:sp>
        <p:nvSpPr>
          <p:cNvPr id="55" name="TextBox 54"/>
          <p:cNvSpPr txBox="1"/>
          <p:nvPr/>
        </p:nvSpPr>
        <p:spPr>
          <a:xfrm>
            <a:off x="9235440" y="5504688"/>
            <a:ext cx="2331720" cy="7315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HippoRAG-style trên câu viện dẫn, naive là 0,458</a:t>
            </a:r>
          </a:p>
        </p:txBody>
      </p:sp>
      <p:sp>
        <p:nvSpPr>
          <p:cNvPr id="56" name="Rectangle 55"/>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58" name="Rounded Rectangle 57"/>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VERIFIER  ·  RQ2</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Điểm 1,000 không sống được trên toàn văn</a:t>
            </a:r>
          </a:p>
        </p:txBody>
      </p:sp>
      <p:sp>
        <p:nvSpPr>
          <p:cNvPr id="7" name="TextBox 6"/>
          <p:cNvSpPr txBox="1"/>
          <p:nvPr/>
        </p:nvSpPr>
        <p:spPr>
          <a:xfrm>
            <a:off x="457200" y="1024128"/>
            <a:ext cx="7315200" cy="274320"/>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Macro-F1 trên 14 mệnh đề người của Thông tư 08/2021.</a:t>
            </a:r>
          </a:p>
        </p:txBody>
      </p:sp>
      <p:sp>
        <p:nvSpPr>
          <p:cNvPr id="8" name="TextBox 7"/>
          <p:cNvSpPr txBox="1"/>
          <p:nvPr/>
        </p:nvSpPr>
        <p:spPr>
          <a:xfrm>
            <a:off x="438912" y="1371600"/>
            <a:ext cx="2880360" cy="64008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Từng khoản + rule số</a:t>
            </a:r>
          </a:p>
        </p:txBody>
      </p:sp>
      <p:sp>
        <p:nvSpPr>
          <p:cNvPr id="9" name="Rounded Rectangle 8"/>
          <p:cNvSpPr/>
          <p:nvPr/>
        </p:nvSpPr>
        <p:spPr>
          <a:xfrm>
            <a:off x="3383280" y="1554480"/>
            <a:ext cx="3931920" cy="292608"/>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83280" y="1554480"/>
            <a:ext cx="3931920" cy="292608"/>
          </a:xfrm>
          <a:prstGeom prst="roundRect">
            <a:avLst>
              <a:gd name="adj" fmla="val 5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1371600"/>
            <a:ext cx="868680" cy="640080"/>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0B6E62"/>
                </a:solidFill>
                <a:latin typeface="Arial"/>
                <a:ea typeface="Arial"/>
                <a:cs typeface="Arial"/>
              </a:rPr>
              <a:t>1,000</a:t>
            </a:r>
          </a:p>
        </p:txBody>
      </p:sp>
      <p:sp>
        <p:nvSpPr>
          <p:cNvPr id="12" name="TextBox 11"/>
          <p:cNvSpPr txBox="1"/>
          <p:nvPr/>
        </p:nvSpPr>
        <p:spPr>
          <a:xfrm>
            <a:off x="438912" y="2084832"/>
            <a:ext cx="2880360" cy="64008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Gộp cả điều</a:t>
            </a:r>
          </a:p>
        </p:txBody>
      </p:sp>
      <p:sp>
        <p:nvSpPr>
          <p:cNvPr id="13" name="Rounded Rectangle 12"/>
          <p:cNvSpPr/>
          <p:nvPr/>
        </p:nvSpPr>
        <p:spPr>
          <a:xfrm>
            <a:off x="3383280" y="2267712"/>
            <a:ext cx="3931920" cy="292608"/>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83280" y="2267712"/>
            <a:ext cx="3699936" cy="292608"/>
          </a:xfrm>
          <a:prstGeom prst="roundRect">
            <a:avLst>
              <a:gd name="adj" fmla="val 50000"/>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0" y="2084832"/>
            <a:ext cx="868680" cy="640080"/>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1D4ED8"/>
                </a:solidFill>
                <a:latin typeface="Arial"/>
                <a:ea typeface="Arial"/>
                <a:cs typeface="Arial"/>
              </a:rPr>
              <a:t>0,941</a:t>
            </a:r>
          </a:p>
        </p:txBody>
      </p:sp>
      <p:sp>
        <p:nvSpPr>
          <p:cNvPr id="16" name="TextBox 15"/>
          <p:cNvSpPr txBox="1"/>
          <p:nvPr/>
        </p:nvSpPr>
        <p:spPr>
          <a:xfrm>
            <a:off x="438912" y="2798064"/>
            <a:ext cx="2880360" cy="64008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Bỏ rule số</a:t>
            </a:r>
          </a:p>
        </p:txBody>
      </p:sp>
      <p:sp>
        <p:nvSpPr>
          <p:cNvPr id="17" name="Rounded Rectangle 16"/>
          <p:cNvSpPr/>
          <p:nvPr/>
        </p:nvSpPr>
        <p:spPr>
          <a:xfrm>
            <a:off x="3383280" y="2980944"/>
            <a:ext cx="3931920" cy="292608"/>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383280" y="2980944"/>
            <a:ext cx="1714317" cy="292608"/>
          </a:xfrm>
          <a:prstGeom prst="roundRect">
            <a:avLst>
              <a:gd name="adj" fmla="val 50000"/>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0" y="2798064"/>
            <a:ext cx="868680" cy="640080"/>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E24B3C"/>
                </a:solidFill>
                <a:latin typeface="Arial"/>
                <a:ea typeface="Arial"/>
                <a:cs typeface="Arial"/>
              </a:rPr>
              <a:t>0,436</a:t>
            </a:r>
          </a:p>
        </p:txBody>
      </p:sp>
      <p:sp>
        <p:nvSpPr>
          <p:cNvPr id="20" name="TextBox 19"/>
          <p:cNvSpPr txBox="1"/>
          <p:nvPr/>
        </p:nvSpPr>
        <p:spPr>
          <a:xfrm>
            <a:off x="438912" y="3511296"/>
            <a:ext cx="2880360" cy="64008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TF-IDF + logistic</a:t>
            </a:r>
          </a:p>
        </p:txBody>
      </p:sp>
      <p:sp>
        <p:nvSpPr>
          <p:cNvPr id="21" name="Rounded Rectangle 20"/>
          <p:cNvSpPr/>
          <p:nvPr/>
        </p:nvSpPr>
        <p:spPr>
          <a:xfrm>
            <a:off x="3383280" y="3694176"/>
            <a:ext cx="3931920" cy="292608"/>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383280" y="3694176"/>
            <a:ext cx="2272649" cy="292608"/>
          </a:xfrm>
          <a:prstGeom prst="roundRect">
            <a:avLst>
              <a:gd name="adj" fmla="val 50000"/>
            </a:avLst>
          </a:prstGeom>
          <a:solidFill>
            <a:srgbClr val="F0A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06640" y="3511296"/>
            <a:ext cx="868680" cy="640080"/>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A16207"/>
                </a:solidFill>
                <a:latin typeface="Arial"/>
                <a:ea typeface="Arial"/>
                <a:cs typeface="Arial"/>
              </a:rPr>
              <a:t>0,578</a:t>
            </a:r>
          </a:p>
        </p:txBody>
      </p:sp>
      <p:sp>
        <p:nvSpPr>
          <p:cNvPr id="24" name="TextBox 23"/>
          <p:cNvSpPr txBox="1"/>
          <p:nvPr/>
        </p:nvSpPr>
        <p:spPr>
          <a:xfrm>
            <a:off x="438912" y="4224528"/>
            <a:ext cx="2880360" cy="640080"/>
          </a:xfrm>
          <a:prstGeom prst="rect">
            <a:avLst/>
          </a:prstGeom>
          <a:noFill/>
        </p:spPr>
        <p:txBody>
          <a:bodyPr wrap="square" lIns="18288" tIns="0" rIns="18288" bIns="0"/>
          <a:lstStyle/>
          <a:p>
            <a:pPr algn="l">
              <a:lnSpc>
                <a:spcPct val="100000"/>
              </a:lnSpc>
              <a:spcBef>
                <a:spcPts val="0"/>
              </a:spcBef>
              <a:spcAft>
                <a:spcPts val="200"/>
              </a:spcAft>
            </a:pPr>
            <a:r>
              <a:rPr sz="1300" b="1" i="0">
                <a:solidFill>
                  <a:srgbClr val="1C2430"/>
                </a:solidFill>
                <a:latin typeface="Arial"/>
                <a:ea typeface="Arial"/>
                <a:cs typeface="Arial"/>
              </a:rPr>
              <a:t>PhoBERT-base, 1 epoch</a:t>
            </a:r>
          </a:p>
        </p:txBody>
      </p:sp>
      <p:sp>
        <p:nvSpPr>
          <p:cNvPr id="25" name="Rounded Rectangle 24"/>
          <p:cNvSpPr/>
          <p:nvPr/>
        </p:nvSpPr>
        <p:spPr>
          <a:xfrm>
            <a:off x="3383280" y="4407408"/>
            <a:ext cx="3931920" cy="292608"/>
          </a:xfrm>
          <a:prstGeom prst="roundRect">
            <a:avLst>
              <a:gd name="adj" fmla="val 50000"/>
            </a:avLst>
          </a:prstGeom>
          <a:solidFill>
            <a:srgbClr val="F3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83280" y="4407408"/>
            <a:ext cx="1647474" cy="292608"/>
          </a:xfrm>
          <a:prstGeom prst="roundRect">
            <a:avLst>
              <a:gd name="adj" fmla="val 50000"/>
            </a:avLst>
          </a:prstGeom>
          <a:solidFill>
            <a:srgbClr val="6E6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06640" y="4224528"/>
            <a:ext cx="868680" cy="640080"/>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4338CA"/>
                </a:solidFill>
                <a:latin typeface="Arial"/>
                <a:ea typeface="Arial"/>
                <a:cs typeface="Arial"/>
              </a:rPr>
              <a:t>0,419</a:t>
            </a:r>
          </a:p>
        </p:txBody>
      </p:sp>
      <p:sp>
        <p:nvSpPr>
          <p:cNvPr id="28" name="Rounded Rectangle 27"/>
          <p:cNvSpPr/>
          <p:nvPr/>
        </p:nvSpPr>
        <p:spPr>
          <a:xfrm>
            <a:off x="8366760" y="1353312"/>
            <a:ext cx="3383280" cy="2331720"/>
          </a:xfrm>
          <a:prstGeom prst="roundRect">
            <a:avLst>
              <a:gd name="adj" fmla="val 10000"/>
            </a:avLst>
          </a:prstGeom>
          <a:solidFill>
            <a:srgbClr val="E24B3C"/>
          </a:solidFill>
          <a:ln>
            <a:noFill/>
          </a:ln>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ctr">
              <a:lnSpc>
                <a:spcPct val="100000"/>
              </a:lnSpc>
              <a:spcBef>
                <a:spcPts val="0"/>
              </a:spcBef>
              <a:spcAft>
                <a:spcPts val="0"/>
              </a:spcAft>
            </a:pPr>
            <a:r>
              <a:rPr sz="4800" b="1" i="0">
                <a:solidFill>
                  <a:srgbClr val="FFFFFF"/>
                </a:solidFill>
                <a:latin typeface="Arial"/>
                <a:ea typeface="Arial"/>
                <a:cs typeface="Arial"/>
              </a:rPr>
              <a:t>0,15</a:t>
            </a:r>
          </a:p>
          <a:p>
            <a:pPr algn="ctr">
              <a:lnSpc>
                <a:spcPct val="102000"/>
              </a:lnSpc>
              <a:spcBef>
                <a:spcPts val="0"/>
              </a:spcBef>
              <a:spcAft>
                <a:spcPts val="200"/>
              </a:spcAft>
            </a:pPr>
            <a:r>
              <a:rPr sz="1300" b="0" i="0">
                <a:solidFill>
                  <a:srgbClr val="FFF6F4"/>
                </a:solidFill>
                <a:latin typeface="Arial"/>
                <a:ea typeface="Arial"/>
                <a:cs typeface="Arial"/>
              </a:rPr>
              <a:t>độ đúng lớp contradicted
trên mệnh đề dựng từ toàn văn</a:t>
            </a:r>
          </a:p>
        </p:txBody>
      </p:sp>
      <p:sp>
        <p:nvSpPr>
          <p:cNvPr id="29" name="Rounded Rectangle 28"/>
          <p:cNvSpPr/>
          <p:nvPr/>
        </p:nvSpPr>
        <p:spPr>
          <a:xfrm>
            <a:off x="8366760" y="3822191"/>
            <a:ext cx="3383280" cy="16916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49640" y="3950208"/>
            <a:ext cx="3063240" cy="1417320"/>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PhoBERT trên dev tổng hợp</a:t>
            </a:r>
          </a:p>
          <a:p>
            <a:pPr algn="l">
              <a:lnSpc>
                <a:spcPct val="100000"/>
              </a:lnSpc>
              <a:spcBef>
                <a:spcPts val="0"/>
              </a:spcBef>
              <a:spcAft>
                <a:spcPts val="200"/>
              </a:spcAft>
            </a:pPr>
            <a:r>
              <a:rPr sz="2200" b="1" i="0">
                <a:solidFill>
                  <a:srgbClr val="6E63F5"/>
                </a:solidFill>
                <a:latin typeface="Arial"/>
                <a:ea typeface="Arial"/>
                <a:cs typeface="Arial"/>
              </a:rPr>
              <a:t>0,925  →  0,419</a:t>
            </a:r>
          </a:p>
          <a:p>
            <a:pPr algn="l">
              <a:lnSpc>
                <a:spcPct val="102000"/>
              </a:lnSpc>
              <a:spcBef>
                <a:spcPts val="0"/>
              </a:spcBef>
              <a:spcAft>
                <a:spcPts val="200"/>
              </a:spcAft>
            </a:pPr>
            <a:r>
              <a:rPr sz="1200" b="0" i="0">
                <a:solidFill>
                  <a:srgbClr val="5C6B7A"/>
                </a:solidFill>
                <a:latin typeface="Arial"/>
                <a:ea typeface="Arial"/>
                <a:cs typeface="Arial"/>
              </a:rPr>
              <a:t>Dev cao, 14 mệnh đề người thì thấp hơn TF-IDF.</a:t>
            </a:r>
          </a:p>
        </p:txBody>
      </p:sp>
      <p:sp>
        <p:nvSpPr>
          <p:cNvPr id="31" name="Rounded Rectangle 30"/>
          <p:cNvSpPr/>
          <p:nvPr/>
        </p:nvSpPr>
        <p:spPr>
          <a:xfrm>
            <a:off x="438912" y="5074920"/>
            <a:ext cx="7772400" cy="1234440"/>
          </a:xfrm>
          <a:prstGeom prst="roundRect">
            <a:avLst>
              <a:gd name="adj" fmla="val 10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wrap="square" lIns="164592" tIns="109728" rIns="146304" bIns="73152" rtlCol="0" anchor="ctr"/>
          <a:lstStyle/>
          <a:p>
            <a:pPr algn="l">
              <a:lnSpc>
                <a:spcPct val="105000"/>
              </a:lnSpc>
              <a:spcBef>
                <a:spcPts val="0"/>
              </a:spcBef>
              <a:spcAft>
                <a:spcPts val="200"/>
              </a:spcAft>
            </a:pPr>
            <a:r>
              <a:rPr sz="1300" b="0" i="0">
                <a:solidFill>
                  <a:srgbClr val="1C2430"/>
                </a:solidFill>
                <a:latin typeface="Arial"/>
                <a:ea typeface="Arial"/>
                <a:cs typeface="Arial"/>
              </a:rPr>
              <a:t>Điểm 1,000 là kiểm tra trên lỗi guideline đã viết rule để bắt. Một mệnh đề chỉ đúng khi nhìn từng khoản: nợ 24 tín chỉ thì buộc thôi học. Gộp cả điều thì số và hệ quả cùng nằm trong túi từ, nên bị gán supported.</a:t>
            </a:r>
          </a:p>
        </p:txBody>
      </p:sp>
      <p:sp>
        <p:nvSpPr>
          <p:cNvPr id="32" name="Rectangle 31"/>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34" name="Rounded Rectangle 33"/>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RQ1 VÀ RQ3</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Khớp người còn mỏng. Sửa xóa được lỗi đã chỉ đúng</a:t>
            </a:r>
          </a:p>
        </p:txBody>
      </p:sp>
      <p:sp>
        <p:nvSpPr>
          <p:cNvPr id="7" name="Rounded Rectangle 6"/>
          <p:cNvSpPr/>
          <p:nvPr/>
        </p:nvSpPr>
        <p:spPr>
          <a:xfrm>
            <a:off x="438912" y="1097280"/>
            <a:ext cx="5623560" cy="41605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261872"/>
            <a:ext cx="521208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0B6E62"/>
                </a:solidFill>
                <a:latin typeface="Arial"/>
                <a:ea typeface="Arial"/>
                <a:cs typeface="Arial"/>
              </a:rPr>
              <a:t>RQ1  ·  khớp với người</a:t>
            </a:r>
          </a:p>
        </p:txBody>
      </p:sp>
      <p:sp>
        <p:nvSpPr>
          <p:cNvPr id="9" name="TextBox 8"/>
          <p:cNvSpPr txBox="1"/>
          <p:nvPr/>
        </p:nvSpPr>
        <p:spPr>
          <a:xfrm>
            <a:off x="685800" y="1783080"/>
            <a:ext cx="3063240" cy="292608"/>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1C2430"/>
                </a:solidFill>
                <a:latin typeface="Arial"/>
                <a:ea typeface="Arial"/>
                <a:cs typeface="Arial"/>
              </a:rPr>
              <a:t>GGF rule, từng khoản</a:t>
            </a:r>
          </a:p>
        </p:txBody>
      </p:sp>
      <p:sp>
        <p:nvSpPr>
          <p:cNvPr id="10" name="TextBox 9"/>
          <p:cNvSpPr txBox="1"/>
          <p:nvPr/>
        </p:nvSpPr>
        <p:spPr>
          <a:xfrm>
            <a:off x="3840480" y="1783080"/>
            <a:ext cx="1920240" cy="310896"/>
          </a:xfrm>
          <a:prstGeom prst="rect">
            <a:avLst/>
          </a:prstGeom>
          <a:noFill/>
        </p:spPr>
        <p:txBody>
          <a:bodyPr wrap="square" lIns="18288" tIns="0" rIns="18288" bIns="0"/>
          <a:lstStyle/>
          <a:p>
            <a:pPr algn="r">
              <a:lnSpc>
                <a:spcPct val="100000"/>
              </a:lnSpc>
              <a:spcBef>
                <a:spcPts val="0"/>
              </a:spcBef>
              <a:spcAft>
                <a:spcPts val="200"/>
              </a:spcAft>
            </a:pPr>
            <a:r>
              <a:rPr sz="2000" b="1" i="0">
                <a:solidFill>
                  <a:srgbClr val="0B6E62"/>
                </a:solidFill>
                <a:latin typeface="Arial"/>
                <a:ea typeface="Arial"/>
                <a:cs typeface="Arial"/>
              </a:rPr>
              <a:t>1,000</a:t>
            </a:r>
          </a:p>
        </p:txBody>
      </p:sp>
      <p:sp>
        <p:nvSpPr>
          <p:cNvPr id="11" name="TextBox 10"/>
          <p:cNvSpPr txBox="1"/>
          <p:nvPr/>
        </p:nvSpPr>
        <p:spPr>
          <a:xfrm>
            <a:off x="685800" y="2112264"/>
            <a:ext cx="4983480" cy="2743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Rất ít nhóm câu</a:t>
            </a:r>
          </a:p>
        </p:txBody>
      </p:sp>
      <p:sp>
        <p:nvSpPr>
          <p:cNvPr id="12" name="TextBox 11"/>
          <p:cNvSpPr txBox="1"/>
          <p:nvPr/>
        </p:nvSpPr>
        <p:spPr>
          <a:xfrm>
            <a:off x="685800" y="2569464"/>
            <a:ext cx="3063240" cy="292608"/>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1C2430"/>
                </a:solidFill>
                <a:latin typeface="Arial"/>
                <a:ea typeface="Arial"/>
                <a:cs typeface="Arial"/>
              </a:rPr>
              <a:t>Thước đếm từ</a:t>
            </a:r>
          </a:p>
        </p:txBody>
      </p:sp>
      <p:sp>
        <p:nvSpPr>
          <p:cNvPr id="13" name="TextBox 12"/>
          <p:cNvSpPr txBox="1"/>
          <p:nvPr/>
        </p:nvSpPr>
        <p:spPr>
          <a:xfrm>
            <a:off x="3840480" y="2569464"/>
            <a:ext cx="1920240" cy="310896"/>
          </a:xfrm>
          <a:prstGeom prst="rect">
            <a:avLst/>
          </a:prstGeom>
          <a:noFill/>
        </p:spPr>
        <p:txBody>
          <a:bodyPr wrap="square" lIns="18288" tIns="0" rIns="18288" bIns="0"/>
          <a:lstStyle/>
          <a:p>
            <a:pPr algn="r">
              <a:lnSpc>
                <a:spcPct val="100000"/>
              </a:lnSpc>
              <a:spcBef>
                <a:spcPts val="0"/>
              </a:spcBef>
              <a:spcAft>
                <a:spcPts val="200"/>
              </a:spcAft>
            </a:pPr>
            <a:r>
              <a:rPr sz="2000" b="1" i="0">
                <a:solidFill>
                  <a:srgbClr val="0B6E62"/>
                </a:solidFill>
                <a:latin typeface="Arial"/>
                <a:ea typeface="Arial"/>
                <a:cs typeface="Arial"/>
              </a:rPr>
              <a:t>−0,052</a:t>
            </a:r>
          </a:p>
        </p:txBody>
      </p:sp>
      <p:sp>
        <p:nvSpPr>
          <p:cNvPr id="14" name="TextBox 13"/>
          <p:cNvSpPr txBox="1"/>
          <p:nvPr/>
        </p:nvSpPr>
        <p:spPr>
          <a:xfrm>
            <a:off x="685800" y="2898648"/>
            <a:ext cx="4983480" cy="2743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Câu sai số vẫn gần nguyên văn</a:t>
            </a:r>
          </a:p>
        </p:txBody>
      </p:sp>
      <p:sp>
        <p:nvSpPr>
          <p:cNvPr id="15" name="TextBox 14"/>
          <p:cNvSpPr txBox="1"/>
          <p:nvPr/>
        </p:nvSpPr>
        <p:spPr>
          <a:xfrm>
            <a:off x="685800" y="3355848"/>
            <a:ext cx="3063240" cy="292608"/>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1C2430"/>
                </a:solidFill>
                <a:latin typeface="Arial"/>
                <a:ea typeface="Arial"/>
                <a:cs typeface="Arial"/>
              </a:rPr>
              <a:t>RAGAS-style, gộp điều</a:t>
            </a:r>
          </a:p>
        </p:txBody>
      </p:sp>
      <p:sp>
        <p:nvSpPr>
          <p:cNvPr id="16" name="TextBox 15"/>
          <p:cNvSpPr txBox="1"/>
          <p:nvPr/>
        </p:nvSpPr>
        <p:spPr>
          <a:xfrm>
            <a:off x="3840480" y="3355848"/>
            <a:ext cx="1920240" cy="310896"/>
          </a:xfrm>
          <a:prstGeom prst="rect">
            <a:avLst/>
          </a:prstGeom>
          <a:noFill/>
        </p:spPr>
        <p:txBody>
          <a:bodyPr wrap="square" lIns="18288" tIns="0" rIns="18288" bIns="0"/>
          <a:lstStyle/>
          <a:p>
            <a:pPr algn="r">
              <a:lnSpc>
                <a:spcPct val="100000"/>
              </a:lnSpc>
              <a:spcBef>
                <a:spcPts val="0"/>
              </a:spcBef>
              <a:spcAft>
                <a:spcPts val="200"/>
              </a:spcAft>
            </a:pPr>
            <a:r>
              <a:rPr sz="2000" b="1" i="0">
                <a:solidFill>
                  <a:srgbClr val="0B6E62"/>
                </a:solidFill>
                <a:latin typeface="Arial"/>
                <a:ea typeface="Arial"/>
                <a:cs typeface="Arial"/>
              </a:rPr>
              <a:t>0,750</a:t>
            </a:r>
          </a:p>
        </p:txBody>
      </p:sp>
      <p:sp>
        <p:nvSpPr>
          <p:cNvPr id="17" name="TextBox 16"/>
          <p:cNvSpPr txBox="1"/>
          <p:nvPr/>
        </p:nvSpPr>
        <p:spPr>
          <a:xfrm>
            <a:off x="685800" y="3685032"/>
            <a:ext cx="4983480" cy="2743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Không phải RAGAS gốc</a:t>
            </a:r>
          </a:p>
        </p:txBody>
      </p:sp>
      <p:sp>
        <p:nvSpPr>
          <p:cNvPr id="18" name="TextBox 17"/>
          <p:cNvSpPr txBox="1"/>
          <p:nvPr/>
        </p:nvSpPr>
        <p:spPr>
          <a:xfrm>
            <a:off x="685800" y="4142232"/>
            <a:ext cx="3063240" cy="292608"/>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1C2430"/>
                </a:solidFill>
                <a:latin typeface="Arial"/>
                <a:ea typeface="Arial"/>
                <a:cs typeface="Arial"/>
              </a:rPr>
              <a:t>Giám khảo = GGF rule</a:t>
            </a:r>
          </a:p>
        </p:txBody>
      </p:sp>
      <p:sp>
        <p:nvSpPr>
          <p:cNvPr id="19" name="TextBox 18"/>
          <p:cNvSpPr txBox="1"/>
          <p:nvPr/>
        </p:nvSpPr>
        <p:spPr>
          <a:xfrm>
            <a:off x="3840480" y="4142232"/>
            <a:ext cx="1920240" cy="310896"/>
          </a:xfrm>
          <a:prstGeom prst="rect">
            <a:avLst/>
          </a:prstGeom>
          <a:noFill/>
        </p:spPr>
        <p:txBody>
          <a:bodyPr wrap="square" lIns="18288" tIns="0" rIns="18288" bIns="0"/>
          <a:lstStyle/>
          <a:p>
            <a:pPr algn="r">
              <a:lnSpc>
                <a:spcPct val="100000"/>
              </a:lnSpc>
              <a:spcBef>
                <a:spcPts val="0"/>
              </a:spcBef>
              <a:spcAft>
                <a:spcPts val="200"/>
              </a:spcAft>
            </a:pPr>
            <a:r>
              <a:rPr sz="2000" b="1" i="0">
                <a:solidFill>
                  <a:srgbClr val="0B6E62"/>
                </a:solidFill>
                <a:latin typeface="Arial"/>
                <a:ea typeface="Arial"/>
                <a:cs typeface="Arial"/>
              </a:rPr>
              <a:t>0,763</a:t>
            </a:r>
          </a:p>
        </p:txBody>
      </p:sp>
      <p:sp>
        <p:nvSpPr>
          <p:cNvPr id="20" name="TextBox 19"/>
          <p:cNvSpPr txBox="1"/>
          <p:nvPr/>
        </p:nvSpPr>
        <p:spPr>
          <a:xfrm>
            <a:off x="685800" y="4471416"/>
            <a:ext cx="4983480" cy="274320"/>
          </a:xfrm>
          <a:prstGeom prst="rect">
            <a:avLst/>
          </a:prstGeom>
          <a:noFill/>
        </p:spPr>
        <p:txBody>
          <a:bodyPr wrap="square" lIns="18288" tIns="0" rIns="18288" bIns="0"/>
          <a:lstStyle/>
          <a:p>
            <a:pPr algn="l">
              <a:lnSpc>
                <a:spcPct val="100000"/>
              </a:lnSpc>
              <a:spcBef>
                <a:spcPts val="0"/>
              </a:spcBef>
              <a:spcAft>
                <a:spcPts val="200"/>
              </a:spcAft>
            </a:pPr>
            <a:r>
              <a:rPr sz="1200" b="0" i="0">
                <a:solidFill>
                  <a:srgbClr val="5C6B7A"/>
                </a:solidFill>
                <a:latin typeface="Arial"/>
                <a:ea typeface="Arial"/>
                <a:cs typeface="Arial"/>
              </a:rPr>
              <a:t>Không phải mô hình lớn</a:t>
            </a:r>
          </a:p>
        </p:txBody>
      </p:sp>
      <p:sp>
        <p:nvSpPr>
          <p:cNvPr id="21" name="Rounded Rectangle 20"/>
          <p:cNvSpPr/>
          <p:nvPr/>
        </p:nvSpPr>
        <p:spPr>
          <a:xfrm>
            <a:off x="6263640" y="1097280"/>
            <a:ext cx="5486400" cy="41605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1261872"/>
            <a:ext cx="5074920" cy="36576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E24B3C"/>
                </a:solidFill>
                <a:latin typeface="Arial"/>
                <a:ea typeface="Arial"/>
                <a:cs typeface="Arial"/>
              </a:rPr>
              <a:t>RQ3  ·  vòng sửa tất định</a:t>
            </a:r>
          </a:p>
        </p:txBody>
      </p:sp>
      <p:sp>
        <p:nvSpPr>
          <p:cNvPr id="23" name="Rounded Rectangle 22"/>
          <p:cNvSpPr/>
          <p:nvPr/>
        </p:nvSpPr>
        <p:spPr>
          <a:xfrm>
            <a:off x="6473952" y="1783080"/>
            <a:ext cx="5074920" cy="1325880"/>
          </a:xfrm>
          <a:prstGeom prst="roundRect">
            <a:avLst>
              <a:gd name="adj" fmla="val 10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29400" y="1874519"/>
            <a:ext cx="4754880" cy="292608"/>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13 câu cố ý đổi mốc</a:t>
            </a:r>
          </a:p>
        </p:txBody>
      </p:sp>
      <p:sp>
        <p:nvSpPr>
          <p:cNvPr id="25" name="TextBox 24"/>
          <p:cNvSpPr txBox="1"/>
          <p:nvPr/>
        </p:nvSpPr>
        <p:spPr>
          <a:xfrm>
            <a:off x="6629400" y="2167128"/>
            <a:ext cx="4754880" cy="365760"/>
          </a:xfrm>
          <a:prstGeom prst="rect">
            <a:avLst/>
          </a:prstGeom>
          <a:noFill/>
        </p:spPr>
        <p:txBody>
          <a:bodyPr wrap="square" lIns="18288" tIns="0" rIns="18288" bIns="0"/>
          <a:lstStyle/>
          <a:p>
            <a:pPr algn="l">
              <a:lnSpc>
                <a:spcPct val="100000"/>
              </a:lnSpc>
              <a:spcBef>
                <a:spcPts val="0"/>
              </a:spcBef>
              <a:spcAft>
                <a:spcPts val="200"/>
              </a:spcAft>
            </a:pPr>
            <a:r>
              <a:rPr sz="1800" b="1" i="0">
                <a:solidFill>
                  <a:srgbClr val="1C2430"/>
                </a:solidFill>
                <a:latin typeface="Arial"/>
                <a:ea typeface="Arial"/>
                <a:cs typeface="Arial"/>
              </a:rPr>
              <a:t>GGF  0,231  →  1</a:t>
            </a:r>
          </a:p>
        </p:txBody>
      </p:sp>
      <p:sp>
        <p:nvSpPr>
          <p:cNvPr id="26" name="TextBox 25"/>
          <p:cNvSpPr txBox="1"/>
          <p:nvPr/>
        </p:nvSpPr>
        <p:spPr>
          <a:xfrm>
            <a:off x="6629400" y="2606040"/>
            <a:ext cx="4754880" cy="347472"/>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E24B3C"/>
                </a:solidFill>
                <a:latin typeface="Arial"/>
                <a:ea typeface="Arial"/>
                <a:cs typeface="Arial"/>
              </a:rPr>
              <a:t>Contradicted  0,744  →  0</a:t>
            </a:r>
          </a:p>
        </p:txBody>
      </p:sp>
      <p:sp>
        <p:nvSpPr>
          <p:cNvPr id="27" name="Rounded Rectangle 26"/>
          <p:cNvSpPr/>
          <p:nvPr/>
        </p:nvSpPr>
        <p:spPr>
          <a:xfrm>
            <a:off x="6473952" y="3227832"/>
            <a:ext cx="5074920" cy="1325880"/>
          </a:xfrm>
          <a:prstGeom prst="roundRect">
            <a:avLst>
              <a:gd name="adj" fmla="val 10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29400" y="3319272"/>
            <a:ext cx="4754880" cy="292608"/>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20 câu đổi số, toàn văn</a:t>
            </a:r>
          </a:p>
        </p:txBody>
      </p:sp>
      <p:sp>
        <p:nvSpPr>
          <p:cNvPr id="29" name="TextBox 28"/>
          <p:cNvSpPr txBox="1"/>
          <p:nvPr/>
        </p:nvSpPr>
        <p:spPr>
          <a:xfrm>
            <a:off x="6629400" y="3611880"/>
            <a:ext cx="4754880" cy="365760"/>
          </a:xfrm>
          <a:prstGeom prst="rect">
            <a:avLst/>
          </a:prstGeom>
          <a:noFill/>
        </p:spPr>
        <p:txBody>
          <a:bodyPr wrap="square" lIns="18288" tIns="0" rIns="18288" bIns="0"/>
          <a:lstStyle/>
          <a:p>
            <a:pPr algn="l">
              <a:lnSpc>
                <a:spcPct val="100000"/>
              </a:lnSpc>
              <a:spcBef>
                <a:spcPts val="0"/>
              </a:spcBef>
              <a:spcAft>
                <a:spcPts val="200"/>
              </a:spcAft>
            </a:pPr>
            <a:r>
              <a:rPr sz="1800" b="1" i="0">
                <a:solidFill>
                  <a:srgbClr val="1C2430"/>
                </a:solidFill>
                <a:latin typeface="Arial"/>
                <a:ea typeface="Arial"/>
                <a:cs typeface="Arial"/>
              </a:rPr>
              <a:t>GGF  0,45  →  1</a:t>
            </a:r>
          </a:p>
        </p:txBody>
      </p:sp>
      <p:sp>
        <p:nvSpPr>
          <p:cNvPr id="30" name="TextBox 29"/>
          <p:cNvSpPr txBox="1"/>
          <p:nvPr/>
        </p:nvSpPr>
        <p:spPr>
          <a:xfrm>
            <a:off x="6629400" y="4050792"/>
            <a:ext cx="4754880" cy="347472"/>
          </a:xfrm>
          <a:prstGeom prst="rect">
            <a:avLst/>
          </a:prstGeom>
          <a:noFill/>
        </p:spPr>
        <p:txBody>
          <a:bodyPr wrap="square" lIns="18288" tIns="0" rIns="18288" bIns="0"/>
          <a:lstStyle/>
          <a:p>
            <a:pPr algn="l">
              <a:lnSpc>
                <a:spcPct val="100000"/>
              </a:lnSpc>
              <a:spcBef>
                <a:spcPts val="0"/>
              </a:spcBef>
              <a:spcAft>
                <a:spcPts val="200"/>
              </a:spcAft>
            </a:pPr>
            <a:r>
              <a:rPr sz="1400" b="1" i="0">
                <a:solidFill>
                  <a:srgbClr val="E24B3C"/>
                </a:solidFill>
                <a:latin typeface="Arial"/>
                <a:ea typeface="Arial"/>
                <a:cs typeface="Arial"/>
              </a:rPr>
              <a:t>Contradicted  0,36  →  0</a:t>
            </a:r>
          </a:p>
        </p:txBody>
      </p:sp>
      <p:sp>
        <p:nvSpPr>
          <p:cNvPr id="31" name="TextBox 30"/>
          <p:cNvSpPr txBox="1"/>
          <p:nvPr/>
        </p:nvSpPr>
        <p:spPr>
          <a:xfrm>
            <a:off x="6473952" y="4709160"/>
            <a:ext cx="5074920" cy="411480"/>
          </a:xfrm>
          <a:prstGeom prst="rect">
            <a:avLst/>
          </a:prstGeom>
          <a:noFill/>
        </p:spPr>
        <p:txBody>
          <a:bodyPr wrap="square" lIns="18288" tIns="0" rIns="18288" bIns="0"/>
          <a:lstStyle/>
          <a:p>
            <a:pPr algn="l">
              <a:lnSpc>
                <a:spcPct val="100000"/>
              </a:lnSpc>
              <a:spcBef>
                <a:spcPts val="0"/>
              </a:spcBef>
              <a:spcAft>
                <a:spcPts val="200"/>
              </a:spcAft>
            </a:pPr>
            <a:r>
              <a:rPr sz="1300" b="0" i="0">
                <a:solidFill>
                  <a:srgbClr val="5C6B7A"/>
                </a:solidFill>
                <a:latin typeface="Arial"/>
                <a:ea typeface="Arial"/>
                <a:cs typeface="Arial"/>
              </a:rPr>
              <a:t>Cơ chế: thay mảnh lệch bằng đúng khoản. Không gọi mô hình viết lại.</a:t>
            </a:r>
          </a:p>
        </p:txBody>
      </p:sp>
      <p:sp>
        <p:nvSpPr>
          <p:cNvPr id="32" name="Rounded Rectangle 31"/>
          <p:cNvSpPr/>
          <p:nvPr/>
        </p:nvSpPr>
        <p:spPr>
          <a:xfrm>
            <a:off x="438912" y="5394960"/>
            <a:ext cx="11320272" cy="914400"/>
          </a:xfrm>
          <a:prstGeom prst="roundRect">
            <a:avLst>
              <a:gd name="adj" fmla="val 10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wrap="square" lIns="219456" tIns="73152" rIns="182880" bIns="54864" rtlCol="0" anchor="ctr"/>
          <a:lstStyle/>
          <a:p>
            <a:pPr algn="l">
              <a:lnSpc>
                <a:spcPct val="105000"/>
              </a:lnSpc>
              <a:spcBef>
                <a:spcPts val="0"/>
              </a:spcBef>
              <a:spcAft>
                <a:spcPts val="200"/>
              </a:spcAft>
            </a:pPr>
            <a:r>
              <a:rPr sz="1500" b="0" i="0">
                <a:solidFill>
                  <a:srgbClr val="0B6E62"/>
                </a:solidFill>
                <a:latin typeface="Arial"/>
                <a:ea typeface="Arial"/>
                <a:cs typeface="Arial"/>
              </a:rPr>
              <a:t>Chưa kết luận tương quan ổn định. Vòng sửa chứng minh: khi verifier chỉ đúng khoản, thay lại đoạn thì contradicted hết. Chưa đo F1 của câu do mô hình viết.</a:t>
            </a:r>
          </a:p>
        </p:txBody>
      </p:sp>
      <p:sp>
        <p:nvSpPr>
          <p:cNvPr id="33" name="Rectangle 32"/>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35" name="Rounded Rectangle 34"/>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DEMO</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Ba nhịp trên trang local</a:t>
            </a:r>
          </a:p>
        </p:txBody>
      </p:sp>
      <p:sp>
        <p:nvSpPr>
          <p:cNvPr id="7" name="Rounded Rectangle 6"/>
          <p:cNvSpPr/>
          <p:nvPr/>
        </p:nvSpPr>
        <p:spPr>
          <a:xfrm>
            <a:off x="438912" y="1115568"/>
            <a:ext cx="3657600" cy="3977639"/>
          </a:xfrm>
          <a:prstGeom prst="roundRect">
            <a:avLst>
              <a:gd name="adj" fmla="val 10000"/>
            </a:avLst>
          </a:prstGeom>
          <a:solidFill>
            <a:srgbClr val="E7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58368" y="1316736"/>
            <a:ext cx="502920" cy="502920"/>
          </a:xfrm>
          <a:prstGeom prst="ellipse">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408176"/>
            <a:ext cx="502920" cy="347472"/>
          </a:xfrm>
          <a:prstGeom prst="rect">
            <a:avLst/>
          </a:prstGeom>
          <a:noFill/>
        </p:spPr>
        <p:txBody>
          <a:bodyPr wrap="square" lIns="18288" tIns="0" rIns="18288" bIns="0"/>
          <a:lstStyle/>
          <a:p>
            <a:pPr algn="ctr">
              <a:lnSpc>
                <a:spcPct val="100000"/>
              </a:lnSpc>
              <a:spcBef>
                <a:spcPts val="0"/>
              </a:spcBef>
              <a:spcAft>
                <a:spcPts val="200"/>
              </a:spcAft>
            </a:pPr>
            <a:r>
              <a:rPr sz="1600" b="1" i="0">
                <a:solidFill>
                  <a:srgbClr val="FFFFFF"/>
                </a:solidFill>
                <a:latin typeface="Arial"/>
                <a:ea typeface="Arial"/>
                <a:cs typeface="Arial"/>
              </a:rPr>
              <a:t>1</a:t>
            </a:r>
          </a:p>
        </p:txBody>
      </p:sp>
      <p:sp>
        <p:nvSpPr>
          <p:cNvPr id="10" name="TextBox 9"/>
          <p:cNvSpPr txBox="1"/>
          <p:nvPr/>
        </p:nvSpPr>
        <p:spPr>
          <a:xfrm>
            <a:off x="1307592" y="1371600"/>
            <a:ext cx="256032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Câu đúng</a:t>
            </a:r>
          </a:p>
        </p:txBody>
      </p:sp>
      <p:sp>
        <p:nvSpPr>
          <p:cNvPr id="11" name="TextBox 10"/>
          <p:cNvSpPr txBox="1"/>
          <p:nvPr/>
        </p:nvSpPr>
        <p:spPr>
          <a:xfrm>
            <a:off x="658368" y="2057400"/>
            <a:ext cx="3218688"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1C2430"/>
                </a:solidFill>
                <a:latin typeface="Arial"/>
                <a:ea typeface="Arial"/>
                <a:cs typeface="Arial"/>
              </a:rPr>
              <a:t>Hỏi nợ bao nhiêu tín chỉ thì bị cảnh báo.</a:t>
            </a:r>
          </a:p>
        </p:txBody>
      </p:sp>
      <p:sp>
        <p:nvSpPr>
          <p:cNvPr id="12" name="TextBox 11"/>
          <p:cNvSpPr txBox="1"/>
          <p:nvPr/>
        </p:nvSpPr>
        <p:spPr>
          <a:xfrm>
            <a:off x="658368" y="3200400"/>
            <a:ext cx="3218688" cy="16002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Điều 11 khoản 1 điểm a. Có cụm vượt quá 24. Nhãn supported. GGF bằng 1.</a:t>
            </a:r>
          </a:p>
        </p:txBody>
      </p:sp>
      <p:sp>
        <p:nvSpPr>
          <p:cNvPr id="13" name="Rounded Rectangle 12"/>
          <p:cNvSpPr/>
          <p:nvPr/>
        </p:nvSpPr>
        <p:spPr>
          <a:xfrm>
            <a:off x="4242816" y="1115568"/>
            <a:ext cx="3657600" cy="3977639"/>
          </a:xfrm>
          <a:prstGeom prst="roundRect">
            <a:avLst>
              <a:gd name="adj" fmla="val 10000"/>
            </a:avLst>
          </a:prstGeom>
          <a:solidFill>
            <a:srgbClr val="FF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462272" y="1316736"/>
            <a:ext cx="502920" cy="502920"/>
          </a:xfrm>
          <a:prstGeom prst="ellipse">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62272" y="1408176"/>
            <a:ext cx="502920" cy="347472"/>
          </a:xfrm>
          <a:prstGeom prst="rect">
            <a:avLst/>
          </a:prstGeom>
          <a:noFill/>
        </p:spPr>
        <p:txBody>
          <a:bodyPr wrap="square" lIns="18288" tIns="0" rIns="18288" bIns="0"/>
          <a:lstStyle/>
          <a:p>
            <a:pPr algn="ctr">
              <a:lnSpc>
                <a:spcPct val="100000"/>
              </a:lnSpc>
              <a:spcBef>
                <a:spcPts val="0"/>
              </a:spcBef>
              <a:spcAft>
                <a:spcPts val="200"/>
              </a:spcAft>
            </a:pPr>
            <a:r>
              <a:rPr sz="1600" b="1" i="0">
                <a:solidFill>
                  <a:srgbClr val="FFFFFF"/>
                </a:solidFill>
                <a:latin typeface="Arial"/>
                <a:ea typeface="Arial"/>
                <a:cs typeface="Arial"/>
              </a:rPr>
              <a:t>2</a:t>
            </a:r>
          </a:p>
        </p:txBody>
      </p:sp>
      <p:sp>
        <p:nvSpPr>
          <p:cNvPr id="16" name="TextBox 15"/>
          <p:cNvSpPr txBox="1"/>
          <p:nvPr/>
        </p:nvSpPr>
        <p:spPr>
          <a:xfrm>
            <a:off x="5111496" y="1371600"/>
            <a:ext cx="256032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Nói ngược</a:t>
            </a:r>
          </a:p>
        </p:txBody>
      </p:sp>
      <p:sp>
        <p:nvSpPr>
          <p:cNvPr id="17" name="TextBox 16"/>
          <p:cNvSpPr txBox="1"/>
          <p:nvPr/>
        </p:nvSpPr>
        <p:spPr>
          <a:xfrm>
            <a:off x="4462272" y="2057400"/>
            <a:ext cx="3218688"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1C2430"/>
                </a:solidFill>
                <a:latin typeface="Arial"/>
                <a:ea typeface="Arial"/>
                <a:cs typeface="Arial"/>
              </a:rPr>
              <a:t>Đưa câu: vượt quá 24 thì bị buộc thôi học.</a:t>
            </a:r>
          </a:p>
        </p:txBody>
      </p:sp>
      <p:sp>
        <p:nvSpPr>
          <p:cNvPr id="18" name="TextBox 17"/>
          <p:cNvSpPr txBox="1"/>
          <p:nvPr/>
        </p:nvSpPr>
        <p:spPr>
          <a:xfrm>
            <a:off x="4462272" y="3200400"/>
            <a:ext cx="3218688" cy="16002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Nhãn contradicted. Gộp cả điều có thể thành supported, vì hai ý đứng cạnh nhau.</a:t>
            </a:r>
          </a:p>
        </p:txBody>
      </p:sp>
      <p:sp>
        <p:nvSpPr>
          <p:cNvPr id="19" name="Rounded Rectangle 18"/>
          <p:cNvSpPr/>
          <p:nvPr/>
        </p:nvSpPr>
        <p:spPr>
          <a:xfrm>
            <a:off x="8046720" y="1115568"/>
            <a:ext cx="3657600" cy="3977639"/>
          </a:xfrm>
          <a:prstGeom prst="roundRect">
            <a:avLst>
              <a:gd name="adj" fmla="val 10000"/>
            </a:avLst>
          </a:prstGeom>
          <a:solidFill>
            <a:srgbClr val="FF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66176" y="1316736"/>
            <a:ext cx="502920" cy="502920"/>
          </a:xfrm>
          <a:prstGeom prst="ellipse">
            <a:avLst/>
          </a:prstGeom>
          <a:solidFill>
            <a:srgbClr val="F0A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66176" y="1408176"/>
            <a:ext cx="502920" cy="347472"/>
          </a:xfrm>
          <a:prstGeom prst="rect">
            <a:avLst/>
          </a:prstGeom>
          <a:noFill/>
        </p:spPr>
        <p:txBody>
          <a:bodyPr wrap="square" lIns="18288" tIns="0" rIns="18288" bIns="0"/>
          <a:lstStyle/>
          <a:p>
            <a:pPr algn="ctr">
              <a:lnSpc>
                <a:spcPct val="100000"/>
              </a:lnSpc>
              <a:spcBef>
                <a:spcPts val="0"/>
              </a:spcBef>
              <a:spcAft>
                <a:spcPts val="200"/>
              </a:spcAft>
            </a:pPr>
            <a:r>
              <a:rPr sz="1600" b="1" i="0">
                <a:solidFill>
                  <a:srgbClr val="FFFFFF"/>
                </a:solidFill>
                <a:latin typeface="Arial"/>
                <a:ea typeface="Arial"/>
                <a:cs typeface="Arial"/>
              </a:rPr>
              <a:t>3</a:t>
            </a:r>
          </a:p>
        </p:txBody>
      </p:sp>
      <p:sp>
        <p:nvSpPr>
          <p:cNvPr id="22" name="TextBox 21"/>
          <p:cNvSpPr txBox="1"/>
          <p:nvPr/>
        </p:nvSpPr>
        <p:spPr>
          <a:xfrm>
            <a:off x="8915400" y="1371600"/>
            <a:ext cx="2560320" cy="438912"/>
          </a:xfrm>
          <a:prstGeom prst="rect">
            <a:avLst/>
          </a:prstGeom>
          <a:noFill/>
        </p:spPr>
        <p:txBody>
          <a:bodyPr wrap="square" lIns="18288" tIns="0" rIns="18288" bIns="0"/>
          <a:lstStyle/>
          <a:p>
            <a:pPr algn="l">
              <a:lnSpc>
                <a:spcPct val="100000"/>
              </a:lnSpc>
              <a:spcBef>
                <a:spcPts val="0"/>
              </a:spcBef>
              <a:spcAft>
                <a:spcPts val="200"/>
              </a:spcAft>
            </a:pPr>
            <a:r>
              <a:rPr sz="2000" b="1" i="0">
                <a:solidFill>
                  <a:srgbClr val="1C2430"/>
                </a:solidFill>
                <a:latin typeface="Arial"/>
                <a:ea typeface="Arial"/>
                <a:cs typeface="Arial"/>
              </a:rPr>
              <a:t>Sửa số</a:t>
            </a:r>
          </a:p>
        </p:txBody>
      </p:sp>
      <p:sp>
        <p:nvSpPr>
          <p:cNvPr id="23" name="TextBox 22"/>
          <p:cNvSpPr txBox="1"/>
          <p:nvPr/>
        </p:nvSpPr>
        <p:spPr>
          <a:xfrm>
            <a:off x="8266176" y="2057400"/>
            <a:ext cx="3218688" cy="1051560"/>
          </a:xfrm>
          <a:prstGeom prst="rect">
            <a:avLst/>
          </a:prstGeom>
          <a:noFill/>
        </p:spPr>
        <p:txBody>
          <a:bodyPr wrap="square" lIns="18288" tIns="0" rIns="18288" bIns="0"/>
          <a:lstStyle/>
          <a:p>
            <a:pPr algn="l">
              <a:lnSpc>
                <a:spcPct val="105000"/>
              </a:lnSpc>
              <a:spcBef>
                <a:spcPts val="0"/>
              </a:spcBef>
              <a:spcAft>
                <a:spcPts val="200"/>
              </a:spcAft>
            </a:pPr>
            <a:r>
              <a:rPr sz="1500" b="0" i="0">
                <a:solidFill>
                  <a:srgbClr val="1C2430"/>
                </a:solidFill>
                <a:latin typeface="Arial"/>
                <a:ea typeface="Arial"/>
                <a:cs typeface="Arial"/>
              </a:rPr>
              <a:t>Đổi thời gian tối đa thành 03 lần.</a:t>
            </a:r>
          </a:p>
        </p:txBody>
      </p:sp>
      <p:sp>
        <p:nvSpPr>
          <p:cNvPr id="24" name="TextBox 23"/>
          <p:cNvSpPr txBox="1"/>
          <p:nvPr/>
        </p:nvSpPr>
        <p:spPr>
          <a:xfrm>
            <a:off x="8266176" y="3200400"/>
            <a:ext cx="3218688" cy="160020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Khoản ghi 02 lần. Sau một vòng, câu về 02 và GGF về 1.</a:t>
            </a:r>
          </a:p>
        </p:txBody>
      </p:sp>
      <p:sp>
        <p:nvSpPr>
          <p:cNvPr id="25" name="Rounded Rectangle 24"/>
          <p:cNvSpPr/>
          <p:nvPr/>
        </p:nvSpPr>
        <p:spPr>
          <a:xfrm>
            <a:off x="438912" y="5257800"/>
            <a:ext cx="11320272" cy="1051560"/>
          </a:xfrm>
          <a:prstGeom prst="roundRect">
            <a:avLst>
              <a:gd name="adj" fmla="val 10000"/>
            </a:avLst>
          </a:prstGeom>
          <a:solidFill>
            <a:srgbClr val="1C2430"/>
          </a:solidFill>
          <a:ln>
            <a:noFill/>
          </a:ln>
        </p:spPr>
        <p:style>
          <a:lnRef idx="1">
            <a:schemeClr val="accent1"/>
          </a:lnRef>
          <a:fillRef idx="3">
            <a:schemeClr val="accent1"/>
          </a:fillRef>
          <a:effectRef idx="2">
            <a:schemeClr val="accent1"/>
          </a:effectRef>
          <a:fontRef idx="minor">
            <a:schemeClr val="lt1"/>
          </a:fontRef>
        </p:style>
        <p:txBody>
          <a:bodyPr wrap="square" lIns="182880" tIns="73152" rIns="182880" bIns="54864" rtlCol="0" anchor="ctr"/>
          <a:lstStyle/>
          <a:p>
            <a:pPr algn="ctr">
              <a:lnSpc>
                <a:spcPct val="100000"/>
              </a:lnSpc>
              <a:spcBef>
                <a:spcPts val="0"/>
              </a:spcBef>
              <a:spcAft>
                <a:spcPts val="100"/>
              </a:spcAft>
            </a:pPr>
            <a:r>
              <a:rPr sz="1800" b="1" i="0">
                <a:solidFill>
                  <a:srgbClr val="FFFFFF"/>
                </a:solidFill>
                <a:latin typeface="Arial"/>
                <a:ea typeface="Arial"/>
                <a:cs typeface="Arial"/>
              </a:rPr>
              <a:t>python run.py web</a:t>
            </a:r>
          </a:p>
          <a:p>
            <a:pPr algn="ctr">
              <a:lnSpc>
                <a:spcPct val="100000"/>
              </a:lnSpc>
              <a:spcBef>
                <a:spcPts val="0"/>
              </a:spcBef>
              <a:spcAft>
                <a:spcPts val="200"/>
              </a:spcAft>
            </a:pPr>
            <a:r>
              <a:rPr sz="1300" b="0" i="0">
                <a:solidFill>
                  <a:srgbClr val="F6E7DF"/>
                </a:solidFill>
                <a:latin typeface="Arial"/>
                <a:ea typeface="Arial"/>
                <a:cs typeface="Arial"/>
              </a:rPr>
              <a:t>http://127.0.0.1:8766     ·     nếu không mở được trình duyệt: python run.py demo</a:t>
            </a:r>
          </a:p>
        </p:txBody>
      </p:sp>
      <p:sp>
        <p:nvSpPr>
          <p:cNvPr id="26" name="Rectangle 25"/>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8" name="Rounded Rectangle 27"/>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HẠN CHẾ</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Những chỗ chưa được kết luận</a:t>
            </a:r>
          </a:p>
        </p:txBody>
      </p:sp>
      <p:sp>
        <p:nvSpPr>
          <p:cNvPr id="7" name="Rounded Rectangle 6"/>
          <p:cNvSpPr/>
          <p:nvPr/>
        </p:nvSpPr>
        <p:spPr>
          <a:xfrm>
            <a:off x="438912" y="1115568"/>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1115568"/>
            <a:ext cx="91440" cy="2194560"/>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344168"/>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Chưa có kappa</a:t>
            </a:r>
          </a:p>
        </p:txBody>
      </p:sp>
      <p:sp>
        <p:nvSpPr>
          <p:cNvPr id="10" name="TextBox 9"/>
          <p:cNvSpPr txBox="1"/>
          <p:nvPr/>
        </p:nvSpPr>
        <p:spPr>
          <a:xfrm>
            <a:off x="694944" y="2075688"/>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Chưa có người chấm thứ hai cho câu hỏi và cho mệnh đề.</a:t>
            </a:r>
          </a:p>
        </p:txBody>
      </p:sp>
      <p:sp>
        <p:nvSpPr>
          <p:cNvPr id="11" name="Rounded Rectangle 10"/>
          <p:cNvSpPr/>
          <p:nvPr/>
        </p:nvSpPr>
        <p:spPr>
          <a:xfrm>
            <a:off x="4242816" y="1115568"/>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42816" y="1115568"/>
            <a:ext cx="91440" cy="2194560"/>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344168"/>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14 mệnh đề là quá nhỏ</a:t>
            </a:r>
          </a:p>
        </p:txBody>
      </p:sp>
      <p:sp>
        <p:nvSpPr>
          <p:cNvPr id="14" name="TextBox 13"/>
          <p:cNvSpPr txBox="1"/>
          <p:nvPr/>
        </p:nvSpPr>
        <p:spPr>
          <a:xfrm>
            <a:off x="4498848" y="2075688"/>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Đủ để kiểm lỗi đã biết. Chưa đủ để suy tương quan với người.</a:t>
            </a:r>
          </a:p>
        </p:txBody>
      </p:sp>
      <p:sp>
        <p:nvSpPr>
          <p:cNvPr id="15" name="Rounded Rectangle 14"/>
          <p:cNvSpPr/>
          <p:nvPr/>
        </p:nvSpPr>
        <p:spPr>
          <a:xfrm>
            <a:off x="8046720" y="1115568"/>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115568"/>
            <a:ext cx="91440" cy="2194560"/>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344168"/>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ViHERMES chưa vào bảng</a:t>
            </a:r>
          </a:p>
        </p:txBody>
      </p:sp>
      <p:sp>
        <p:nvSpPr>
          <p:cNvPr id="18" name="TextBox 17"/>
          <p:cNvSpPr txBox="1"/>
          <p:nvPr/>
        </p:nvSpPr>
        <p:spPr>
          <a:xfrm>
            <a:off x="8302752" y="2075688"/>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Có trong demo. Bộ trên Hugging Face cần tài khoản.</a:t>
            </a:r>
          </a:p>
        </p:txBody>
      </p:sp>
      <p:sp>
        <p:nvSpPr>
          <p:cNvPr id="19" name="Rounded Rectangle 18"/>
          <p:cNvSpPr/>
          <p:nvPr/>
        </p:nvSpPr>
        <p:spPr>
          <a:xfrm>
            <a:off x="438912" y="3447287"/>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8912" y="3447287"/>
            <a:ext cx="91440" cy="2194560"/>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3675887"/>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Không phải mã gốc</a:t>
            </a:r>
          </a:p>
        </p:txBody>
      </p:sp>
      <p:sp>
        <p:nvSpPr>
          <p:cNvPr id="22" name="TextBox 21"/>
          <p:cNvSpPr txBox="1"/>
          <p:nvPr/>
        </p:nvSpPr>
        <p:spPr>
          <a:xfrm>
            <a:off x="694944" y="4407407"/>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Năm cổng là thuật toán trên cùng BM25, không phải Docker của bài được dẫn.</a:t>
            </a:r>
          </a:p>
        </p:txBody>
      </p:sp>
      <p:sp>
        <p:nvSpPr>
          <p:cNvPr id="23" name="Rounded Rectangle 22"/>
          <p:cNvSpPr/>
          <p:nvPr/>
        </p:nvSpPr>
        <p:spPr>
          <a:xfrm>
            <a:off x="4242816" y="3447287"/>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42816" y="3447287"/>
            <a:ext cx="91440" cy="2194560"/>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98848" y="3675887"/>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56/2026 không phải Công báo</a:t>
            </a:r>
          </a:p>
        </p:txBody>
      </p:sp>
      <p:sp>
        <p:nvSpPr>
          <p:cNvPr id="26" name="TextBox 25"/>
          <p:cNvSpPr txBox="1"/>
          <p:nvPr/>
        </p:nvSpPr>
        <p:spPr>
          <a:xfrm>
            <a:off x="4498848" y="4407407"/>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Toàn văn công khai. Thuộc tính cổng Chính phủ xác nhận số hiệu và ngày.</a:t>
            </a:r>
          </a:p>
        </p:txBody>
      </p:sp>
      <p:sp>
        <p:nvSpPr>
          <p:cNvPr id="27" name="Rounded Rectangle 26"/>
          <p:cNvSpPr/>
          <p:nvPr/>
        </p:nvSpPr>
        <p:spPr>
          <a:xfrm>
            <a:off x="8046720" y="3447287"/>
            <a:ext cx="3657600" cy="2194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447287"/>
            <a:ext cx="91440" cy="2194560"/>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02752" y="3675887"/>
            <a:ext cx="3200400" cy="6400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Sửa chưa có mô hình sinh</a:t>
            </a:r>
          </a:p>
        </p:txBody>
      </p:sp>
      <p:sp>
        <p:nvSpPr>
          <p:cNvPr id="30" name="TextBox 29"/>
          <p:cNvSpPr txBox="1"/>
          <p:nvPr/>
        </p:nvSpPr>
        <p:spPr>
          <a:xfrm>
            <a:off x="8302752" y="4407407"/>
            <a:ext cx="3200400" cy="1005840"/>
          </a:xfrm>
          <a:prstGeom prst="rect">
            <a:avLst/>
          </a:prstGeom>
          <a:noFill/>
        </p:spPr>
        <p:txBody>
          <a:bodyPr wrap="square" lIns="18288" tIns="0" rIns="18288" bIns="0"/>
          <a:lstStyle/>
          <a:p>
            <a:pPr algn="l">
              <a:lnSpc>
                <a:spcPct val="105000"/>
              </a:lnSpc>
              <a:spcBef>
                <a:spcPts val="0"/>
              </a:spcBef>
              <a:spcAft>
                <a:spcPts val="200"/>
              </a:spcAft>
            </a:pPr>
            <a:r>
              <a:rPr sz="1400" b="0" i="0">
                <a:solidFill>
                  <a:srgbClr val="5C6B7A"/>
                </a:solidFill>
                <a:latin typeface="Arial"/>
                <a:ea typeface="Arial"/>
                <a:cs typeface="Arial"/>
              </a:rPr>
              <a:t>Chưa đo F1 của câu do mô hình viết sau khi sửa.</a:t>
            </a:r>
          </a:p>
        </p:txBody>
      </p:sp>
      <p:sp>
        <p:nvSpPr>
          <p:cNvPr id="31" name="Rectangle 30"/>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33" name="Rounded Rectangle 32"/>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509760" cy="73152"/>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82239" cy="73152"/>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4592"/>
            <a:ext cx="11247120" cy="237744"/>
          </a:xfrm>
          <a:prstGeom prst="rect">
            <a:avLst/>
          </a:prstGeom>
          <a:noFill/>
        </p:spPr>
        <p:txBody>
          <a:bodyPr wrap="square" lIns="18288" tIns="0" rIns="18288" bIns="0"/>
          <a:lstStyle/>
          <a:p>
            <a:pPr algn="l">
              <a:lnSpc>
                <a:spcPct val="100000"/>
              </a:lnSpc>
              <a:spcBef>
                <a:spcPts val="0"/>
              </a:spcBef>
              <a:spcAft>
                <a:spcPts val="200"/>
              </a:spcAft>
            </a:pPr>
            <a:r>
              <a:rPr sz="1200" b="1" i="0">
                <a:solidFill>
                  <a:srgbClr val="0E9A86"/>
                </a:solidFill>
                <a:latin typeface="Arial"/>
                <a:ea typeface="Arial"/>
                <a:cs typeface="Arial"/>
              </a:rPr>
              <a:t>KẾT LUẬN</a:t>
            </a:r>
          </a:p>
        </p:txBody>
      </p:sp>
      <p:sp>
        <p:nvSpPr>
          <p:cNvPr id="6" name="TextBox 5"/>
          <p:cNvSpPr txBox="1"/>
          <p:nvPr/>
        </p:nvSpPr>
        <p:spPr>
          <a:xfrm>
            <a:off x="438912" y="402336"/>
            <a:ext cx="11292840" cy="475488"/>
          </a:xfrm>
          <a:prstGeom prst="rect">
            <a:avLst/>
          </a:prstGeom>
          <a:noFill/>
        </p:spPr>
        <p:txBody>
          <a:bodyPr wrap="square" lIns="18288" tIns="0" rIns="18288" bIns="0"/>
          <a:lstStyle/>
          <a:p>
            <a:pPr algn="l">
              <a:lnSpc>
                <a:spcPct val="100000"/>
              </a:lnSpc>
              <a:spcBef>
                <a:spcPts val="0"/>
              </a:spcBef>
              <a:spcAft>
                <a:spcPts val="200"/>
              </a:spcAft>
            </a:pPr>
            <a:r>
              <a:rPr sz="2600" b="1" i="0">
                <a:solidFill>
                  <a:srgbClr val="1C2430"/>
                </a:solidFill>
                <a:latin typeface="Arial"/>
                <a:ea typeface="Arial"/>
                <a:cs typeface="Arial"/>
              </a:rPr>
              <a:t>Ba điều em giữ lại</a:t>
            </a:r>
          </a:p>
        </p:txBody>
      </p:sp>
      <p:sp>
        <p:nvSpPr>
          <p:cNvPr id="7" name="Rounded Rectangle 6"/>
          <p:cNvSpPr/>
          <p:nvPr/>
        </p:nvSpPr>
        <p:spPr>
          <a:xfrm>
            <a:off x="438912" y="1115568"/>
            <a:ext cx="3657600" cy="3794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1115568"/>
            <a:ext cx="3657600" cy="91440"/>
          </a:xfrm>
          <a:prstGeom prst="rect">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371600"/>
            <a:ext cx="3291840" cy="82296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0E9A86"/>
                </a:solidFill>
                <a:latin typeface="Arial"/>
                <a:ea typeface="Arial"/>
                <a:cs typeface="Arial"/>
              </a:rPr>
              <a:t>0,27</a:t>
            </a:r>
          </a:p>
        </p:txBody>
      </p:sp>
      <p:sp>
        <p:nvSpPr>
          <p:cNvPr id="10" name="TextBox 9"/>
          <p:cNvSpPr txBox="1"/>
          <p:nvPr/>
        </p:nvSpPr>
        <p:spPr>
          <a:xfrm>
            <a:off x="621792" y="2286000"/>
            <a:ext cx="3291840" cy="4114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Đưa vào câu</a:t>
            </a:r>
          </a:p>
        </p:txBody>
      </p:sp>
      <p:sp>
        <p:nvSpPr>
          <p:cNvPr id="11" name="TextBox 10"/>
          <p:cNvSpPr txBox="1"/>
          <p:nvPr/>
        </p:nvSpPr>
        <p:spPr>
          <a:xfrm>
            <a:off x="621792" y="2880360"/>
            <a:ext cx="3291840" cy="1737360"/>
          </a:xfrm>
          <a:prstGeom prst="rect">
            <a:avLst/>
          </a:prstGeom>
          <a:noFill/>
        </p:spPr>
        <p:txBody>
          <a:bodyPr wrap="square" lIns="18288" tIns="0" rIns="18288" bIns="0"/>
          <a:lstStyle/>
          <a:p>
            <a:pPr algn="l">
              <a:lnSpc>
                <a:spcPct val="108000"/>
              </a:lnSpc>
              <a:spcBef>
                <a:spcPts val="0"/>
              </a:spcBef>
              <a:spcAft>
                <a:spcPts val="200"/>
              </a:spcAft>
            </a:pPr>
            <a:r>
              <a:rPr sz="1500" b="0" i="0">
                <a:solidFill>
                  <a:srgbClr val="5C6B7A"/>
                </a:solidFill>
                <a:latin typeface="Arial"/>
                <a:ea typeface="Arial"/>
                <a:cs typeface="Arial"/>
              </a:rPr>
              <a:t>Pool cao nhất 0,633.
Câu trả lời chỉ khoảng
0,20 đến 0,27.</a:t>
            </a:r>
          </a:p>
        </p:txBody>
      </p:sp>
      <p:sp>
        <p:nvSpPr>
          <p:cNvPr id="12" name="Rounded Rectangle 11"/>
          <p:cNvSpPr/>
          <p:nvPr/>
        </p:nvSpPr>
        <p:spPr>
          <a:xfrm>
            <a:off x="4242816" y="1115568"/>
            <a:ext cx="3657600" cy="3794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42816" y="1115568"/>
            <a:ext cx="3657600" cy="91440"/>
          </a:xfrm>
          <a:prstGeom prst="rect">
            <a:avLst/>
          </a:prstGeom>
          <a:solidFill>
            <a:srgbClr val="FF6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25696" y="1371600"/>
            <a:ext cx="3291840" cy="82296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FF6B57"/>
                </a:solidFill>
                <a:latin typeface="Arial"/>
                <a:ea typeface="Arial"/>
                <a:cs typeface="Arial"/>
              </a:rPr>
              <a:t>0,15</a:t>
            </a:r>
          </a:p>
        </p:txBody>
      </p:sp>
      <p:sp>
        <p:nvSpPr>
          <p:cNvPr id="15" name="TextBox 14"/>
          <p:cNvSpPr txBox="1"/>
          <p:nvPr/>
        </p:nvSpPr>
        <p:spPr>
          <a:xfrm>
            <a:off x="4425696" y="2286000"/>
            <a:ext cx="3291840" cy="4114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Nói ngược, toàn văn</a:t>
            </a:r>
          </a:p>
        </p:txBody>
      </p:sp>
      <p:sp>
        <p:nvSpPr>
          <p:cNvPr id="16" name="TextBox 15"/>
          <p:cNvSpPr txBox="1"/>
          <p:nvPr/>
        </p:nvSpPr>
        <p:spPr>
          <a:xfrm>
            <a:off x="4425696" y="2880360"/>
            <a:ext cx="3291840" cy="1737360"/>
          </a:xfrm>
          <a:prstGeom prst="rect">
            <a:avLst/>
          </a:prstGeom>
          <a:noFill/>
        </p:spPr>
        <p:txBody>
          <a:bodyPr wrap="square" lIns="18288" tIns="0" rIns="18288" bIns="0"/>
          <a:lstStyle/>
          <a:p>
            <a:pPr algn="l">
              <a:lnSpc>
                <a:spcPct val="108000"/>
              </a:lnSpc>
              <a:spcBef>
                <a:spcPts val="0"/>
              </a:spcBef>
              <a:spcAft>
                <a:spcPts val="200"/>
              </a:spcAft>
            </a:pPr>
            <a:r>
              <a:rPr sz="1500" b="0" i="0">
                <a:solidFill>
                  <a:srgbClr val="5C6B7A"/>
                </a:solidFill>
                <a:latin typeface="Arial"/>
                <a:ea typeface="Arial"/>
                <a:cs typeface="Arial"/>
              </a:rPr>
              <a:t>Rule đạt 1,000 trên 14 mệnh đề.
Bỏ rule số còn 0,436.
Toàn văn chỉ đúng khoảng 0,15.</a:t>
            </a:r>
          </a:p>
        </p:txBody>
      </p:sp>
      <p:sp>
        <p:nvSpPr>
          <p:cNvPr id="17" name="Rounded Rectangle 16"/>
          <p:cNvSpPr/>
          <p:nvPr/>
        </p:nvSpPr>
        <p:spPr>
          <a:xfrm>
            <a:off x="8046720" y="1115568"/>
            <a:ext cx="3657600" cy="3794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1115568"/>
            <a:ext cx="3657600" cy="91440"/>
          </a:xfrm>
          <a:prstGeom prst="rect">
            <a:avLst/>
          </a:prstGeom>
          <a:solidFill>
            <a:srgbClr val="3D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371600"/>
            <a:ext cx="3291840" cy="822960"/>
          </a:xfrm>
          <a:prstGeom prst="rect">
            <a:avLst/>
          </a:prstGeom>
          <a:noFill/>
        </p:spPr>
        <p:txBody>
          <a:bodyPr wrap="square" lIns="18288" tIns="0" rIns="18288" bIns="0"/>
          <a:lstStyle/>
          <a:p>
            <a:pPr algn="l">
              <a:lnSpc>
                <a:spcPct val="100000"/>
              </a:lnSpc>
              <a:spcBef>
                <a:spcPts val="0"/>
              </a:spcBef>
              <a:spcAft>
                <a:spcPts val="200"/>
              </a:spcAft>
            </a:pPr>
            <a:r>
              <a:rPr sz="4000" b="1" i="0">
                <a:solidFill>
                  <a:srgbClr val="3D7EFF"/>
                </a:solidFill>
                <a:latin typeface="Arial"/>
                <a:ea typeface="Arial"/>
                <a:cs typeface="Arial"/>
              </a:rPr>
              <a:t>→ 1</a:t>
            </a:r>
          </a:p>
        </p:txBody>
      </p:sp>
      <p:sp>
        <p:nvSpPr>
          <p:cNvPr id="20" name="TextBox 19"/>
          <p:cNvSpPr txBox="1"/>
          <p:nvPr/>
        </p:nvSpPr>
        <p:spPr>
          <a:xfrm>
            <a:off x="8229600" y="2286000"/>
            <a:ext cx="3291840" cy="411480"/>
          </a:xfrm>
          <a:prstGeom prst="rect">
            <a:avLst/>
          </a:prstGeom>
          <a:noFill/>
        </p:spPr>
        <p:txBody>
          <a:bodyPr wrap="square" lIns="18288" tIns="0" rIns="18288" bIns="0"/>
          <a:lstStyle/>
          <a:p>
            <a:pPr algn="l">
              <a:lnSpc>
                <a:spcPct val="100000"/>
              </a:lnSpc>
              <a:spcBef>
                <a:spcPts val="0"/>
              </a:spcBef>
              <a:spcAft>
                <a:spcPts val="200"/>
              </a:spcAft>
            </a:pPr>
            <a:r>
              <a:rPr sz="1600" b="1" i="0">
                <a:solidFill>
                  <a:srgbClr val="1C2430"/>
                </a:solidFill>
                <a:latin typeface="Arial"/>
                <a:ea typeface="Arial"/>
                <a:cs typeface="Arial"/>
              </a:rPr>
              <a:t>Sửa khi chỉ đúng khoản</a:t>
            </a:r>
          </a:p>
        </p:txBody>
      </p:sp>
      <p:sp>
        <p:nvSpPr>
          <p:cNvPr id="21" name="TextBox 20"/>
          <p:cNvSpPr txBox="1"/>
          <p:nvPr/>
        </p:nvSpPr>
        <p:spPr>
          <a:xfrm>
            <a:off x="8229600" y="2880360"/>
            <a:ext cx="3291840" cy="1737360"/>
          </a:xfrm>
          <a:prstGeom prst="rect">
            <a:avLst/>
          </a:prstGeom>
          <a:noFill/>
        </p:spPr>
        <p:txBody>
          <a:bodyPr wrap="square" lIns="18288" tIns="0" rIns="18288" bIns="0"/>
          <a:lstStyle/>
          <a:p>
            <a:pPr algn="l">
              <a:lnSpc>
                <a:spcPct val="108000"/>
              </a:lnSpc>
              <a:spcBef>
                <a:spcPts val="0"/>
              </a:spcBef>
              <a:spcAft>
                <a:spcPts val="200"/>
              </a:spcAft>
            </a:pPr>
            <a:r>
              <a:rPr sz="1500" b="0" i="0">
                <a:solidFill>
                  <a:srgbClr val="5C6B7A"/>
                </a:solidFill>
                <a:latin typeface="Arial"/>
                <a:ea typeface="Arial"/>
                <a:cs typeface="Arial"/>
              </a:rPr>
              <a:t>Contradicted về 0
khi thay lại đúng đoạn.
Chưa phải câu mô hình viết.</a:t>
            </a:r>
          </a:p>
        </p:txBody>
      </p:sp>
      <p:sp>
        <p:nvSpPr>
          <p:cNvPr id="22" name="Rounded Rectangle 21"/>
          <p:cNvSpPr/>
          <p:nvPr/>
        </p:nvSpPr>
        <p:spPr>
          <a:xfrm>
            <a:off x="438912" y="5074920"/>
            <a:ext cx="11320272" cy="1234440"/>
          </a:xfrm>
          <a:prstGeom prst="roundRect">
            <a:avLst>
              <a:gd name="adj" fmla="val 1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0" tIns="91440" rIns="182880" bIns="73152" rtlCol="0" anchor="ctr"/>
          <a:lstStyle/>
          <a:p>
            <a:pPr algn="ctr">
              <a:lnSpc>
                <a:spcPct val="100000"/>
              </a:lnSpc>
              <a:spcBef>
                <a:spcPts val="0"/>
              </a:spcBef>
              <a:spcAft>
                <a:spcPts val="200"/>
              </a:spcAft>
            </a:pPr>
            <a:r>
              <a:rPr sz="1400" b="0" i="0">
                <a:solidFill>
                  <a:srgbClr val="D7FFF6"/>
                </a:solidFill>
                <a:latin typeface="Arial"/>
                <a:ea typeface="Arial"/>
                <a:cs typeface="Arial"/>
              </a:rPr>
              <a:t>Việc còn lại, trước khi kết luận độ khớp với người</a:t>
            </a:r>
          </a:p>
          <a:p>
            <a:pPr algn="ctr">
              <a:lnSpc>
                <a:spcPct val="100000"/>
              </a:lnSpc>
              <a:spcBef>
                <a:spcPts val="0"/>
              </a:spcBef>
              <a:spcAft>
                <a:spcPts val="200"/>
              </a:spcAft>
            </a:pPr>
            <a:r>
              <a:rPr sz="1600" b="1" i="0">
                <a:solidFill>
                  <a:srgbClr val="FFFFFF"/>
                </a:solidFill>
                <a:latin typeface="Arial"/>
                <a:ea typeface="Arial"/>
                <a:cs typeface="Arial"/>
              </a:rPr>
              <a:t>Người chấm thứ hai  ·  miền y tế trong bảng  ·  vòng sửa có mô hình sinh</a:t>
            </a:r>
          </a:p>
        </p:txBody>
      </p:sp>
      <p:sp>
        <p:nvSpPr>
          <p:cNvPr id="23" name="Rectangle 22"/>
          <p:cNvSpPr/>
          <p:nvPr/>
        </p:nvSpPr>
        <p:spPr>
          <a:xfrm>
            <a:off x="438912" y="6510528"/>
            <a:ext cx="11320272" cy="13716"/>
          </a:xfrm>
          <a:prstGeom prst="rect">
            <a:avLst/>
          </a:prstGeom>
          <a:solidFill>
            <a:srgbClr val="F0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 y="6547104"/>
            <a:ext cx="7772400" cy="256032"/>
          </a:xfrm>
          <a:prstGeom prst="rect">
            <a:avLst/>
          </a:prstGeom>
          <a:noFill/>
        </p:spPr>
        <p:txBody>
          <a:bodyPr wrap="square" lIns="18288" tIns="0" rIns="18288" bIns="0"/>
          <a:lstStyle/>
          <a:p>
            <a:pPr algn="l">
              <a:lnSpc>
                <a:spcPct val="100000"/>
              </a:lnSpc>
              <a:spcBef>
                <a:spcPts val="0"/>
              </a:spcBef>
              <a:spcAft>
                <a:spcPts val="200"/>
              </a:spcAft>
            </a:pPr>
            <a:r>
              <a:rPr sz="1100" b="0" i="0">
                <a:solidFill>
                  <a:srgbClr val="5C6B7A"/>
                </a:solidFill>
                <a:latin typeface="Arial"/>
                <a:ea typeface="Arial"/>
                <a:cs typeface="Arial"/>
              </a:rPr>
              <a:t>ViKAG-Faith   ·   Xử lý ngôn ngữ tự nhiên</a:t>
            </a:r>
          </a:p>
        </p:txBody>
      </p:sp>
      <p:sp>
        <p:nvSpPr>
          <p:cNvPr id="25" name="Rounded Rectangle 24"/>
          <p:cNvSpPr/>
          <p:nvPr/>
        </p:nvSpPr>
        <p:spPr>
          <a:xfrm>
            <a:off x="11109960" y="6547104"/>
            <a:ext cx="640080" cy="256032"/>
          </a:xfrm>
          <a:prstGeom prst="roundRect">
            <a:avLst>
              <a:gd name="adj" fmla="val 40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Bef>
                <a:spcPts val="0"/>
              </a:spcBef>
              <a:spcAft>
                <a:spcPts val="200"/>
              </a:spcAft>
            </a:pPr>
            <a:r>
              <a:rPr sz="1100" b="1" i="0">
                <a:solidFill>
                  <a:srgbClr val="FFFFFF"/>
                </a:solidFill>
                <a:latin typeface="Arial"/>
                <a:ea typeface="Arial"/>
                <a:cs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999" cy="6858000"/>
          </a:xfrm>
          <a:prstGeom prst="rect">
            <a:avLst/>
          </a:prstGeom>
          <a:solidFill>
            <a:srgbClr val="F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11480" y="365760"/>
            <a:ext cx="11384280" cy="6126480"/>
          </a:xfrm>
          <a:prstGeom prst="roundRect">
            <a:avLst>
              <a:gd name="adj" fmla="val 6000"/>
            </a:avLst>
          </a:prstGeom>
          <a:solidFill>
            <a:srgbClr val="0E9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92640" y="640080"/>
            <a:ext cx="1645920" cy="1645920"/>
          </a:xfrm>
          <a:prstGeom prst="ellipse">
            <a:avLst/>
          </a:prstGeom>
          <a:solidFill>
            <a:srgbClr val="13B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85800" y="4709160"/>
            <a:ext cx="1188720" cy="1188720"/>
          </a:xfrm>
          <a:prstGeom prst="ellipse">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051560"/>
            <a:ext cx="10058400" cy="365760"/>
          </a:xfrm>
          <a:prstGeom prst="rect">
            <a:avLst/>
          </a:prstGeom>
          <a:noFill/>
        </p:spPr>
        <p:txBody>
          <a:bodyPr wrap="square" lIns="18288" tIns="0" rIns="18288" bIns="0"/>
          <a:lstStyle/>
          <a:p>
            <a:pPr algn="ctr">
              <a:lnSpc>
                <a:spcPct val="100000"/>
              </a:lnSpc>
              <a:spcBef>
                <a:spcPts val="0"/>
              </a:spcBef>
              <a:spcAft>
                <a:spcPts val="200"/>
              </a:spcAft>
            </a:pPr>
            <a:r>
              <a:rPr sz="1400" b="1" i="0">
                <a:solidFill>
                  <a:srgbClr val="D7FFF6"/>
                </a:solidFill>
                <a:latin typeface="Arial"/>
                <a:ea typeface="Arial"/>
                <a:cs typeface="Arial"/>
              </a:rPr>
              <a:t>HỎI ĐÁP</a:t>
            </a:r>
          </a:p>
        </p:txBody>
      </p:sp>
      <p:sp>
        <p:nvSpPr>
          <p:cNvPr id="8" name="TextBox 7"/>
          <p:cNvSpPr txBox="1"/>
          <p:nvPr/>
        </p:nvSpPr>
        <p:spPr>
          <a:xfrm>
            <a:off x="1005840" y="1554480"/>
            <a:ext cx="10058400" cy="1005840"/>
          </a:xfrm>
          <a:prstGeom prst="rect">
            <a:avLst/>
          </a:prstGeom>
          <a:noFill/>
        </p:spPr>
        <p:txBody>
          <a:bodyPr wrap="square" lIns="18288" tIns="0" rIns="18288" bIns="0"/>
          <a:lstStyle/>
          <a:p>
            <a:pPr algn="ctr">
              <a:lnSpc>
                <a:spcPct val="100000"/>
              </a:lnSpc>
              <a:spcBef>
                <a:spcPts val="0"/>
              </a:spcBef>
              <a:spcAft>
                <a:spcPts val="200"/>
              </a:spcAft>
            </a:pPr>
            <a:r>
              <a:rPr sz="4800" b="1" i="0" dirty="0" err="1">
                <a:solidFill>
                  <a:srgbClr val="FFFFFF"/>
                </a:solidFill>
                <a:latin typeface="Arial"/>
                <a:ea typeface="Arial"/>
                <a:cs typeface="Arial"/>
              </a:rPr>
              <a:t>Cảm</a:t>
            </a:r>
            <a:r>
              <a:rPr sz="4800" b="1" i="0" dirty="0">
                <a:solidFill>
                  <a:srgbClr val="FFFFFF"/>
                </a:solidFill>
                <a:latin typeface="Arial"/>
                <a:ea typeface="Arial"/>
                <a:cs typeface="Arial"/>
              </a:rPr>
              <a:t> </a:t>
            </a:r>
            <a:r>
              <a:rPr sz="4800" b="1" i="0" dirty="0" err="1">
                <a:solidFill>
                  <a:srgbClr val="FFFFFF"/>
                </a:solidFill>
                <a:latin typeface="Arial"/>
                <a:ea typeface="Arial"/>
                <a:cs typeface="Arial"/>
              </a:rPr>
              <a:t>ơn</a:t>
            </a:r>
            <a:r>
              <a:rPr sz="4800" b="1" i="0" dirty="0">
                <a:solidFill>
                  <a:srgbClr val="FFFFFF"/>
                </a:solidFill>
                <a:latin typeface="Arial"/>
                <a:ea typeface="Arial"/>
                <a:cs typeface="Arial"/>
              </a:rPr>
              <a:t> </a:t>
            </a:r>
            <a:r>
              <a:rPr lang="vi-VN" sz="4800" b="1" dirty="0">
                <a:solidFill>
                  <a:srgbClr val="FFFFFF"/>
                </a:solidFill>
                <a:latin typeface="Arial"/>
                <a:ea typeface="Arial"/>
                <a:cs typeface="Arial"/>
              </a:rPr>
              <a:t>Thầy và Các bạn</a:t>
            </a:r>
            <a:endParaRPr sz="4800" b="1" i="0" dirty="0">
              <a:solidFill>
                <a:srgbClr val="FFFFFF"/>
              </a:solidFill>
              <a:latin typeface="Arial"/>
              <a:ea typeface="Arial"/>
              <a:cs typeface="Arial"/>
            </a:endParaRPr>
          </a:p>
        </p:txBody>
      </p:sp>
      <p:sp>
        <p:nvSpPr>
          <p:cNvPr id="9" name="TextBox 8"/>
          <p:cNvSpPr txBox="1"/>
          <p:nvPr/>
        </p:nvSpPr>
        <p:spPr>
          <a:xfrm>
            <a:off x="1463040" y="2788920"/>
            <a:ext cx="9235440" cy="731520"/>
          </a:xfrm>
          <a:prstGeom prst="rect">
            <a:avLst/>
          </a:prstGeom>
          <a:noFill/>
        </p:spPr>
        <p:txBody>
          <a:bodyPr wrap="square" lIns="18288" tIns="0" rIns="18288" bIns="0"/>
          <a:lstStyle/>
          <a:p>
            <a:pPr algn="ctr">
              <a:lnSpc>
                <a:spcPct val="100000"/>
              </a:lnSpc>
              <a:spcBef>
                <a:spcPts val="0"/>
              </a:spcBef>
              <a:spcAft>
                <a:spcPts val="200"/>
              </a:spcAft>
            </a:pPr>
            <a:r>
              <a:rPr sz="1800" b="0" i="0">
                <a:solidFill>
                  <a:srgbClr val="F3FFFC"/>
                </a:solidFill>
                <a:latin typeface="Arial"/>
                <a:ea typeface="Arial"/>
                <a:cs typeface="Arial"/>
              </a:rPr>
              <a:t>Em sẵn sàng mở lại demo, hoặc đi vào một số trên slide.</a:t>
            </a:r>
          </a:p>
        </p:txBody>
      </p:sp>
      <p:sp>
        <p:nvSpPr>
          <p:cNvPr id="10" name="Rounded Rectangle 9"/>
          <p:cNvSpPr/>
          <p:nvPr/>
        </p:nvSpPr>
        <p:spPr>
          <a:xfrm>
            <a:off x="1051560" y="3794760"/>
            <a:ext cx="3200400" cy="1234440"/>
          </a:xfrm>
          <a:prstGeom prst="roundRect">
            <a:avLst>
              <a:gd name="adj" fmla="val 12000"/>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3913632"/>
            <a:ext cx="3017520" cy="50292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FFFFFF"/>
                </a:solidFill>
                <a:latin typeface="Arial"/>
                <a:ea typeface="Arial"/>
                <a:cs typeface="Arial"/>
              </a:rPr>
              <a:t>0,633 và 0,27</a:t>
            </a:r>
          </a:p>
        </p:txBody>
      </p:sp>
      <p:sp>
        <p:nvSpPr>
          <p:cNvPr id="12" name="TextBox 11"/>
          <p:cNvSpPr txBox="1"/>
          <p:nvPr/>
        </p:nvSpPr>
        <p:spPr>
          <a:xfrm>
            <a:off x="1143000" y="4434840"/>
            <a:ext cx="3017520" cy="365760"/>
          </a:xfrm>
          <a:prstGeom prst="rect">
            <a:avLst/>
          </a:prstGeom>
          <a:noFill/>
        </p:spPr>
        <p:txBody>
          <a:bodyPr wrap="square" lIns="18288" tIns="0" rIns="18288" bIns="0"/>
          <a:lstStyle/>
          <a:p>
            <a:pPr algn="ctr">
              <a:lnSpc>
                <a:spcPct val="100000"/>
              </a:lnSpc>
              <a:spcBef>
                <a:spcPts val="0"/>
              </a:spcBef>
              <a:spcAft>
                <a:spcPts val="200"/>
              </a:spcAft>
            </a:pPr>
            <a:r>
              <a:rPr sz="1300" b="0" i="0">
                <a:solidFill>
                  <a:srgbClr val="D7FFF6"/>
                </a:solidFill>
                <a:latin typeface="Arial"/>
                <a:ea typeface="Arial"/>
                <a:cs typeface="Arial"/>
              </a:rPr>
              <a:t>pool và câu trả lời</a:t>
            </a:r>
          </a:p>
        </p:txBody>
      </p:sp>
      <p:sp>
        <p:nvSpPr>
          <p:cNvPr id="13" name="Rounded Rectangle 12"/>
          <p:cNvSpPr/>
          <p:nvPr/>
        </p:nvSpPr>
        <p:spPr>
          <a:xfrm>
            <a:off x="4434840" y="3794760"/>
            <a:ext cx="3200400" cy="1234440"/>
          </a:xfrm>
          <a:prstGeom prst="roundRect">
            <a:avLst>
              <a:gd name="adj" fmla="val 12000"/>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79" y="3913632"/>
            <a:ext cx="3017520" cy="50292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FFFFFF"/>
                </a:solidFill>
                <a:latin typeface="Arial"/>
                <a:ea typeface="Arial"/>
                <a:cs typeface="Arial"/>
              </a:rPr>
              <a:t>1,000 → 0,436</a:t>
            </a:r>
          </a:p>
        </p:txBody>
      </p:sp>
      <p:sp>
        <p:nvSpPr>
          <p:cNvPr id="15" name="TextBox 14"/>
          <p:cNvSpPr txBox="1"/>
          <p:nvPr/>
        </p:nvSpPr>
        <p:spPr>
          <a:xfrm>
            <a:off x="4526279" y="4434840"/>
            <a:ext cx="3017520" cy="365760"/>
          </a:xfrm>
          <a:prstGeom prst="rect">
            <a:avLst/>
          </a:prstGeom>
          <a:noFill/>
        </p:spPr>
        <p:txBody>
          <a:bodyPr wrap="square" lIns="18288" tIns="0" rIns="18288" bIns="0"/>
          <a:lstStyle/>
          <a:p>
            <a:pPr algn="ctr">
              <a:lnSpc>
                <a:spcPct val="100000"/>
              </a:lnSpc>
              <a:spcBef>
                <a:spcPts val="0"/>
              </a:spcBef>
              <a:spcAft>
                <a:spcPts val="200"/>
              </a:spcAft>
            </a:pPr>
            <a:r>
              <a:rPr sz="1300" b="0" i="0">
                <a:solidFill>
                  <a:srgbClr val="D7FFF6"/>
                </a:solidFill>
                <a:latin typeface="Arial"/>
                <a:ea typeface="Arial"/>
                <a:cs typeface="Arial"/>
              </a:rPr>
              <a:t>bỏ rule số</a:t>
            </a:r>
          </a:p>
        </p:txBody>
      </p:sp>
      <p:sp>
        <p:nvSpPr>
          <p:cNvPr id="16" name="Rounded Rectangle 15"/>
          <p:cNvSpPr/>
          <p:nvPr/>
        </p:nvSpPr>
        <p:spPr>
          <a:xfrm>
            <a:off x="7818120" y="3794760"/>
            <a:ext cx="3200400" cy="1234440"/>
          </a:xfrm>
          <a:prstGeom prst="roundRect">
            <a:avLst>
              <a:gd name="adj" fmla="val 12000"/>
            </a:avLst>
          </a:prstGeom>
          <a:solidFill>
            <a:srgbClr val="0C7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9560" y="3913632"/>
            <a:ext cx="3017520" cy="502920"/>
          </a:xfrm>
          <a:prstGeom prst="rect">
            <a:avLst/>
          </a:prstGeom>
          <a:noFill/>
        </p:spPr>
        <p:txBody>
          <a:bodyPr wrap="square" lIns="18288" tIns="0" rIns="18288" bIns="0"/>
          <a:lstStyle/>
          <a:p>
            <a:pPr algn="ctr">
              <a:lnSpc>
                <a:spcPct val="100000"/>
              </a:lnSpc>
              <a:spcBef>
                <a:spcPts val="0"/>
              </a:spcBef>
              <a:spcAft>
                <a:spcPts val="200"/>
              </a:spcAft>
            </a:pPr>
            <a:r>
              <a:rPr sz="1800" b="1" i="0">
                <a:solidFill>
                  <a:srgbClr val="FFFFFF"/>
                </a:solidFill>
                <a:latin typeface="Arial"/>
                <a:ea typeface="Arial"/>
                <a:cs typeface="Arial"/>
              </a:rPr>
              <a:t>0,15</a:t>
            </a:r>
          </a:p>
        </p:txBody>
      </p:sp>
      <p:sp>
        <p:nvSpPr>
          <p:cNvPr id="18" name="TextBox 17"/>
          <p:cNvSpPr txBox="1"/>
          <p:nvPr/>
        </p:nvSpPr>
        <p:spPr>
          <a:xfrm>
            <a:off x="7909560" y="4434840"/>
            <a:ext cx="3017520" cy="365760"/>
          </a:xfrm>
          <a:prstGeom prst="rect">
            <a:avLst/>
          </a:prstGeom>
          <a:noFill/>
        </p:spPr>
        <p:txBody>
          <a:bodyPr wrap="square" lIns="18288" tIns="0" rIns="18288" bIns="0"/>
          <a:lstStyle/>
          <a:p>
            <a:pPr algn="ctr">
              <a:lnSpc>
                <a:spcPct val="100000"/>
              </a:lnSpc>
              <a:spcBef>
                <a:spcPts val="0"/>
              </a:spcBef>
              <a:spcAft>
                <a:spcPts val="200"/>
              </a:spcAft>
            </a:pPr>
            <a:r>
              <a:rPr sz="1300" b="0" i="0">
                <a:solidFill>
                  <a:srgbClr val="D7FFF6"/>
                </a:solidFill>
                <a:latin typeface="Arial"/>
                <a:ea typeface="Arial"/>
                <a:cs typeface="Arial"/>
              </a:rPr>
              <a:t>contradicted toàn văn</a:t>
            </a:r>
          </a:p>
        </p:txBody>
      </p:sp>
      <p:sp>
        <p:nvSpPr>
          <p:cNvPr id="19" name="TextBox 18"/>
          <p:cNvSpPr txBox="1"/>
          <p:nvPr/>
        </p:nvSpPr>
        <p:spPr>
          <a:xfrm>
            <a:off x="1005840" y="5257800"/>
            <a:ext cx="10058400" cy="411480"/>
          </a:xfrm>
          <a:prstGeom prst="rect">
            <a:avLst/>
          </a:prstGeom>
          <a:noFill/>
        </p:spPr>
        <p:txBody>
          <a:bodyPr wrap="square" lIns="18288" tIns="0" rIns="18288" bIns="0"/>
          <a:lstStyle/>
          <a:p>
            <a:pPr algn="ctr">
              <a:lnSpc>
                <a:spcPct val="100000"/>
              </a:lnSpc>
              <a:spcBef>
                <a:spcPts val="0"/>
              </a:spcBef>
              <a:spcAft>
                <a:spcPts val="200"/>
              </a:spcAft>
            </a:pPr>
            <a:r>
              <a:rPr sz="1400" b="0" i="0">
                <a:solidFill>
                  <a:srgbClr val="E7FFF9"/>
                </a:solidFill>
                <a:latin typeface="Arial"/>
                <a:ea typeface="Arial"/>
                <a:cs typeface="Arial"/>
              </a:rPr>
              <a:t>ViKAG-Faith   ·   30.10.2026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4552</Words>
  <Application>Microsoft Macintosh PowerPoint</Application>
  <PresentationFormat>Widescreen</PresentationFormat>
  <Paragraphs>359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ViKAG-Faith — Báo cáo cuối kỳ</dc:title>
  <dc:subject>Xử lý ngôn ngữ tự nhiên</dc:subject>
  <dc:creator>ViKAG-Faith</dc:creator>
  <cp:keywords/>
  <dc:description>generated using python-pptx</dc:description>
  <cp:lastModifiedBy>Do Thi Lan (Lana)/SGVN Front-end Dev. Team</cp:lastModifiedBy>
  <cp:revision>2</cp:revision>
  <dcterms:created xsi:type="dcterms:W3CDTF">2013-01-27T09:14:16Z</dcterms:created>
  <dcterms:modified xsi:type="dcterms:W3CDTF">2026-10-30T06:37:31Z</dcterms:modified>
  <cp:category>Thuyết trình</cp:category>
</cp:coreProperties>
</file>